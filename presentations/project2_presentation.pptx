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34C97B-A2C2-430C-989E-5BA74F0330D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160" cy="339372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120" cy="39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This may be due to employees that have worked at more companies are more likely to be looking for new opportunities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Could also be retirees or other senior employees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3"/>
          </p:nvPr>
        </p:nvSpPr>
        <p:spPr>
          <a:xfrm>
            <a:off x="4402080" y="9553680"/>
            <a:ext cx="3368160" cy="50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E308B6-4206-4FA7-906B-BDFA9E7945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160" cy="33937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120" cy="39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Positive meaning more likely to leave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sldNum" idx="14"/>
          </p:nvPr>
        </p:nvSpPr>
        <p:spPr>
          <a:xfrm>
            <a:off x="4402080" y="9553680"/>
            <a:ext cx="3368160" cy="50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DDD9D3-BB5E-44BB-A598-2F758C5F18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160" cy="33937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120" cy="39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Negative meaning more likely to cause employees to stay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sldNum" idx="15"/>
          </p:nvPr>
        </p:nvSpPr>
        <p:spPr>
          <a:xfrm>
            <a:off x="4402080" y="9553680"/>
            <a:ext cx="3368160" cy="50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402D7E-4759-4551-9ABE-3D4A61CE1CB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ueprint Pla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280" cy="129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280" cy="27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FF9214-BC7A-42A6-B5F4-FCB84BBD10C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280" cy="129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280" cy="27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4BB11B-D160-45AB-8406-F8D3C109456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0079280" cy="56692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  <a:lvl2pPr lvl="1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2pPr>
            <a:lvl3pPr lvl="2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3pPr>
            <a:lvl4pPr lvl="3" algn="l" defTabSz="9144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4pPr>
            <a:lvl5pPr lvl="4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5pPr>
            <a:lvl6pPr lvl="5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6pPr>
            <a:lvl7pPr lvl="6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428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56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EAC96A-4892-4393-8DB6-F034E4BDB52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809280"/>
            <a:ext cx="9071280" cy="129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Will I Stay or Will I Go Now?</a:t>
            </a:r>
            <a:br>
              <a:rPr sz="4400"/>
            </a:b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 report on Attrition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2375280"/>
            <a:ext cx="9071280" cy="275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228600" indent="0" algn="ctr" defTabSz="914400">
              <a:lnSpc>
                <a:spcPct val="9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By: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Stacy Bowler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and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Derrik Miller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Business Problem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71600"/>
            <a:ext cx="9071280" cy="365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 turnover is an expensive problem for a company.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2000" dirty="0">
                <a:solidFill>
                  <a:srgbClr val="000000"/>
                </a:solidFill>
                <a:latin typeface="Arial"/>
                <a:ea typeface="DejaVu Sans"/>
              </a:rPr>
              <a:t>We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assume there’s a cost incurred of $40,000 every time an employee leaves due to lost productivity as well as time spent to find, hire, and train a new employee.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With that in mind, should we adopt a retention program using this predictive model and how much financial value does it create?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primary objective is to accurately determine which employees are likely to quit before they do.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Executive Summary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7320"/>
            <a:ext cx="9071280" cy="393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Based on the assumptions: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Font typeface="OpenSymbol"/>
              <a:buChar char="-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Cost of employee turnover: $40,000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Font typeface="OpenSymbol"/>
              <a:buChar char="-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Cost of retention intervention: $8,000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Font typeface="OpenSymbol"/>
              <a:buChar char="-"/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This could be given as one-time bonuses, annual pay increases, or other career growth opportunities; depending on the needs of the employee.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Font typeface="OpenSymbol"/>
              <a:buChar char="-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Retention intervention success rate: 60%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Using this model to intervene would save the company $1,592,000 in expected costs. It is worth having a retention program.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 a company of 1470 employees, the program would cost $1,552,000, having invested $8k into </a:t>
            </a:r>
            <a:r>
              <a:rPr lang="en-US" sz="2100" dirty="0">
                <a:solidFill>
                  <a:srgbClr val="000000"/>
                </a:solidFill>
                <a:latin typeface="Arial"/>
                <a:ea typeface="DejaVu Sans"/>
              </a:rPr>
              <a:t>194</a:t>
            </a: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total employees.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This resulted in ~ </a:t>
            </a:r>
            <a:r>
              <a:rPr lang="en-US" sz="2100" dirty="0">
                <a:solidFill>
                  <a:srgbClr val="000000"/>
                </a:solidFill>
                <a:latin typeface="Arial"/>
                <a:ea typeface="DejaVu Sans"/>
              </a:rPr>
              <a:t>79</a:t>
            </a: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employees being retained for a total savings of $3,160,000.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Summary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29200" y="1326600"/>
            <a:ext cx="4511112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source: kaggle.com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data is a fictional dataset created by IBM data scientists.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dataset contains 1470 rows of data with 35 columns each.</a:t>
            </a: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dirty="0">
                <a:solidFill>
                  <a:srgbClr val="000000"/>
                </a:solidFill>
                <a:latin typeface="Arial"/>
                <a:ea typeface="DejaVu Sans"/>
              </a:rPr>
              <a:t>All identified ideal data was in dataset.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89868BF-F7D4-2097-0242-D04E7EA1127C}"/>
              </a:ext>
            </a:extLst>
          </p:cNvPr>
          <p:cNvSpPr txBox="1">
            <a:spLocks/>
          </p:cNvSpPr>
          <p:nvPr/>
        </p:nvSpPr>
        <p:spPr>
          <a:xfrm>
            <a:off x="5039640" y="1326600"/>
            <a:ext cx="4633352" cy="4118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0" algn="l"/>
              </a:tabLst>
              <a:defRPr lang="en-US" sz="33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DejaVu Sans"/>
                <a:cs typeface="+mj-cs"/>
              </a:defRPr>
            </a:lvl1pPr>
          </a:lstStyle>
          <a:p>
            <a:pPr marL="432000" indent="-324000" algn="l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/>
              <a:t>Main Columns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  <a:ea typeface="DejaVu Sans"/>
              </a:rPr>
              <a:t>Age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Attrition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Job Role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Job Satisfaction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Marital Status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Monthly Income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Number of Companies Worked</a:t>
            </a: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kern="0" dirty="0">
                <a:solidFill>
                  <a:srgbClr val="000000"/>
                </a:solidFill>
                <a:latin typeface="Arial"/>
              </a:rPr>
              <a:t>Overtime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Preparation</a:t>
            </a:r>
            <a:endParaRPr lang="en-US" sz="3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dataset required little cleaning.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 this project, we converted ‘Attrition’ to a binary outcome where Yes = 1 - meaning the employee left the company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Removed from data: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Attrition, Department,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EmployeeNumber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DailyRate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MonthlyIncome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EmployeeCount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, Over18,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PerformanceRating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StandardHours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Removed due to the similarities shared with other predictors, and thus they were just adding more noise.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850"/>
              </a:spcBef>
              <a:buNone/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Overtime vs Attrition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20640" y="4658400"/>
            <a:ext cx="8838000" cy="7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Employees who work overtime are much more likely to leave.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Picture 34"/>
          <p:cNvPicPr/>
          <p:nvPr/>
        </p:nvPicPr>
        <p:blipFill>
          <a:blip r:embed="rId2"/>
          <a:stretch/>
        </p:blipFill>
        <p:spPr>
          <a:xfrm>
            <a:off x="2415240" y="965520"/>
            <a:ext cx="5248800" cy="365688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Satisfaction vs Attrition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33814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 = Very Satisfied,    1 = Not Satisfied.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More satisfied employees are more likely to stay.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37"/>
          <p:cNvPicPr/>
          <p:nvPr/>
        </p:nvPicPr>
        <p:blipFill>
          <a:blip r:embed="rId2"/>
          <a:stretch/>
        </p:blipFill>
        <p:spPr>
          <a:xfrm>
            <a:off x="3886200" y="939600"/>
            <a:ext cx="6025680" cy="431748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Age vs Attrition</a:t>
            </a:r>
            <a:endParaRPr lang="en-US" sz="3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6480" y="1231920"/>
            <a:ext cx="4067280" cy="425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Younger employees are more likely to leave, but levels off, then reverses around age 45.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Younger employees may be more mobile and able to accept jobs elsewhere.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Middle-aged workers are more likely to have families and opt for more stable employment.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Older employees could be leaving for more senior level positions or retirement.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40"/>
          <p:cNvPicPr/>
          <p:nvPr/>
        </p:nvPicPr>
        <p:blipFill>
          <a:blip r:embed="rId2"/>
          <a:stretch/>
        </p:blipFill>
        <p:spPr>
          <a:xfrm>
            <a:off x="4524120" y="1172520"/>
            <a:ext cx="5236200" cy="398988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Commute Vs Attrition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1339920" y="4384080"/>
            <a:ext cx="756936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Commute distance impacts attrition, but the effect wanes around 15-20 miles.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Picture 43"/>
          <p:cNvPicPr/>
          <p:nvPr/>
        </p:nvPicPr>
        <p:blipFill>
          <a:blip r:embed="rId2"/>
          <a:stretch/>
        </p:blipFill>
        <p:spPr>
          <a:xfrm>
            <a:off x="2615760" y="887760"/>
            <a:ext cx="5004000" cy="342864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Age vs Total Working Years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956960" y="4500360"/>
            <a:ext cx="6364440" cy="69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Age is somewhat correlated with total working years, but not as much as expected.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Picture 46"/>
          <p:cNvPicPr/>
          <p:nvPr/>
        </p:nvPicPr>
        <p:blipFill>
          <a:blip r:embed="rId2"/>
          <a:stretch/>
        </p:blipFill>
        <p:spPr>
          <a:xfrm>
            <a:off x="2516400" y="923040"/>
            <a:ext cx="5180040" cy="344304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Number of Companies and Attrition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2616480" y="4316760"/>
            <a:ext cx="5072400" cy="88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Employees that have worked at more companies are more likely to leave.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Picture 55"/>
          <p:cNvPicPr/>
          <p:nvPr/>
        </p:nvPicPr>
        <p:blipFill>
          <a:blip r:embed="rId3"/>
          <a:stretch/>
        </p:blipFill>
        <p:spPr>
          <a:xfrm>
            <a:off x="2477160" y="938520"/>
            <a:ext cx="5126040" cy="3377880"/>
          </a:xfrm>
          <a:prstGeom prst="rect">
            <a:avLst/>
          </a:prstGeom>
          <a:noFill/>
          <a:ln w="1800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Introduction</a:t>
            </a: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Elastic Net was chosen </a:t>
            </a:r>
            <a:r>
              <a:rPr lang="en-US" sz="2400" dirty="0"/>
              <a:t>for the final 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model.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We ran the dataset against an Elastic Net, Ridge, and LASSO models. We also considered interactions, but ultimately the added complexity didn’t provide any additional value.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Elastic Net was selected because it achieved comparable utility to the other models while providing better accuracy and precision.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Precision was important, because each false positive costs the company $8,000.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Top Positive Predictors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57"/>
          <p:cNvPicPr/>
          <p:nvPr/>
        </p:nvPicPr>
        <p:blipFill>
          <a:blip r:embed="rId3"/>
          <a:stretch/>
        </p:blipFill>
        <p:spPr>
          <a:xfrm>
            <a:off x="2355120" y="1304280"/>
            <a:ext cx="5370120" cy="3851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Top Negative Predictors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59"/>
          <p:cNvPicPr/>
          <p:nvPr/>
        </p:nvPicPr>
        <p:blipFill>
          <a:blip r:embed="rId3"/>
          <a:stretch/>
        </p:blipFill>
        <p:spPr>
          <a:xfrm>
            <a:off x="2223000" y="1172160"/>
            <a:ext cx="5633280" cy="4038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128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Important Continuous Predictors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93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Overtime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Employees working overtime have roughly 8 times the odds of attrition compared with employees who do not, holding the other variables constant: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E^2.07 ≈ 7.95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Marital Status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Single employees have roughly 5 times the odds of attrition compared to divorced employees, holding the over variables constant: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E^1.60 ≈ 5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Continuous Predictors (continued)</a:t>
            </a: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47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l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Business Travel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Employees traveling frequently have roughly 7.5 times the odds of attrition compared to employees who do not travel, holding the other variables constant: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E^2.02 ≈ 7.5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Employees traveling rarely also have roughly 2.9 times the odds of attrition compared to employees who do not travel, holding the other variables constant: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E^1.05 ≈ 2.9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Recommendations</a:t>
            </a: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Monitor employees with sustained overtime requirements.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Reviewing workload and travel expectations for frequently traveling employees.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Provide career development opportunities for employees experiencing perceived stalled progression.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Use satisfaction measures as early indicators of disengagement.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Conclusion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/>
          <p:nvPr/>
        </p:nvSpPr>
        <p:spPr>
          <a:xfrm>
            <a:off x="504000" y="1433880"/>
            <a:ext cx="9071280" cy="328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Based on our assumptions and the data available, a retention program is well worth the investment as it results in significant cost savings from having to replace an employee.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2" indent="-216000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Monetary benefits can be one-time installments, a more permanent yearly raise, or an investment into career growth opportunities.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Money invested into employees as false positives is still likely to improve moral, productivity, and possibly other benefits.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Over time and with more data, the model may be improved resulting in even more savings.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 Thoughts</a:t>
            </a: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 this example: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Targeted 194 high-risk employees with an $8,000 intervention (</a:t>
            </a:r>
            <a:r>
              <a:rPr lang="en-US" sz="21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$1,552,000 total investment</a:t>
            </a: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 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Successfully retains 79 employees who otherwise would have left. 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>
                <a:solidFill>
                  <a:srgbClr val="000000"/>
                </a:solidFill>
                <a:latin typeface="Arial"/>
              </a:rPr>
              <a:t>6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3 employees were false positives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>
                <a:solidFill>
                  <a:srgbClr val="000000"/>
                </a:solidFill>
                <a:latin typeface="Arial"/>
              </a:rPr>
              <a:t>52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employees left the company even after the intervention attempt.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At $40,000 saved per retained employee (</a:t>
            </a:r>
            <a:r>
              <a:rPr lang="en-US" sz="21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$3,</a:t>
            </a:r>
            <a:r>
              <a:rPr lang="en-US" sz="2100" b="1" dirty="0">
                <a:solidFill>
                  <a:srgbClr val="000000"/>
                </a:solidFill>
                <a:latin typeface="Arial"/>
              </a:rPr>
              <a:t>16</a:t>
            </a:r>
            <a:r>
              <a:rPr lang="en-US" sz="21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0,000 gross savings</a:t>
            </a: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), the program yields a </a:t>
            </a:r>
            <a:r>
              <a:rPr lang="en-US" sz="21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net ROI of </a:t>
            </a:r>
            <a:r>
              <a:rPr lang="en-US" sz="2100" b="1" u="none" strike="noStrike" dirty="0">
                <a:solidFill>
                  <a:srgbClr val="00A933"/>
                </a:solidFill>
                <a:effectLst/>
                <a:uFillTx/>
                <a:latin typeface="Arial"/>
              </a:rPr>
              <a:t>$1,608,000</a:t>
            </a: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dirty="0">
                <a:solidFill>
                  <a:srgbClr val="000000"/>
                </a:solidFill>
                <a:latin typeface="Arial"/>
              </a:rPr>
              <a:t>In other words, for every $1 invested, $2.04 in turnover costs are avoided.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What’s Next?</a:t>
            </a: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Identify ideal data.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Since this data was simulated, it’s possible we could build a stronger model if we had real data.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Track and add employee hiring cost to the data.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Add additional employee engagement and compensation variables.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Try to measure whether targeted interventions actually reduce attrition after identification over the long term.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</TotalTime>
  <Words>1042</Words>
  <Application>Microsoft Office PowerPoint</Application>
  <PresentationFormat>Custom</PresentationFormat>
  <Paragraphs>105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OpenSymbol</vt:lpstr>
      <vt:lpstr>Arial</vt:lpstr>
      <vt:lpstr>Symbol</vt:lpstr>
      <vt:lpstr>Times New Roman</vt:lpstr>
      <vt:lpstr>Wingdings</vt:lpstr>
      <vt:lpstr>Office</vt:lpstr>
      <vt:lpstr>Will I Stay or Will I Go Now? A report on Attrition</vt:lpstr>
      <vt:lpstr>Business Problem</vt:lpstr>
      <vt:lpstr>Executive Summary</vt:lpstr>
      <vt:lpstr>Data Summary</vt:lpstr>
      <vt:lpstr>Data Preparation</vt:lpstr>
      <vt:lpstr>Overtime vs Attrition</vt:lpstr>
      <vt:lpstr>Satisfaction vs Attrition</vt:lpstr>
      <vt:lpstr>Age vs Attrition</vt:lpstr>
      <vt:lpstr>Commute Vs Attrition</vt:lpstr>
      <vt:lpstr>Age vs Total Working Years</vt:lpstr>
      <vt:lpstr>Number of Companies and Attrition</vt:lpstr>
      <vt:lpstr>Model Introduction</vt:lpstr>
      <vt:lpstr>Top Positive Predictors</vt:lpstr>
      <vt:lpstr>Top Negative Predictors</vt:lpstr>
      <vt:lpstr>Important Continuous Predictors</vt:lpstr>
      <vt:lpstr>Important Continuous Predictors (continued)</vt:lpstr>
      <vt:lpstr>Recommendations</vt:lpstr>
      <vt:lpstr>Conclusion</vt:lpstr>
      <vt:lpstr>Closing Thoughts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Plans</dc:title>
  <dc:subject/>
  <dc:creator/>
  <dc:description>This work is licensed under a Creative Commons Attribution-ShareAlike 3.0 Unported License.
It makes use of the works of Mateus Machado Luna.
SVG pictures were made by Rizmut.</dc:description>
  <cp:lastModifiedBy>Stacy Bowler</cp:lastModifiedBy>
  <cp:revision>77</cp:revision>
  <dcterms:created xsi:type="dcterms:W3CDTF">2026-07-21T18:18:30Z</dcterms:created>
  <dcterms:modified xsi:type="dcterms:W3CDTF">2026-08-05T05:03:46Z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2</vt:i4>
  </property>
  <property fmtid="{D5CDD505-2E9C-101B-9397-08002B2CF9AE}" pid="3" name="Notes">
    <vt:i4>3</vt:i4>
  </property>
  <property fmtid="{D5CDD505-2E9C-101B-9397-08002B2CF9AE}" pid="4" name="PresentationFormat">
    <vt:lpwstr>Custom</vt:lpwstr>
  </property>
  <property fmtid="{D5CDD505-2E9C-101B-9397-08002B2CF9AE}" pid="5" name="Slides">
    <vt:i4>17</vt:i4>
  </property>
</Properties>
</file>