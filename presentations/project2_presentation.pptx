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presProps.xml" ContentType="application/vnd.openxmlformats-officedocument.presentationml.presProps+xml"/>
  <Override PartName="/ppt/media/image4.svg" ContentType="image/svg"/>
  <Override PartName="/ppt/media/image2.svg" ContentType="image/svg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914400">
              <a:lnSpc>
                <a:spcPct val="90000"/>
              </a:lnSpc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dt" idx="10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ftr" idx="11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6"/>
          <p:cNvSpPr>
            <a:spLocks noGrp="1"/>
          </p:cNvSpPr>
          <p:nvPr>
            <p:ph type="sldNum" idx="12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134C97B-A2C2-430C-989E-5BA74F0330D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32160" cy="3393720"/>
          </a:xfrm>
          <a:prstGeom prst="rect">
            <a:avLst/>
          </a:prstGeom>
          <a:ln w="0">
            <a:noFill/>
          </a:ln>
        </p:spPr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612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This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may be due to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employees that have worked at more companies are more likely to be looking for new opportunities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Could also be retirees or other senior employees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sldNum" idx="13"/>
          </p:nvPr>
        </p:nvSpPr>
        <p:spPr>
          <a:xfrm>
            <a:off x="4402080" y="9553680"/>
            <a:ext cx="3368160" cy="504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3E308B6-4206-4FA7-906B-BDFA9E79456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32160" cy="3393720"/>
          </a:xfrm>
          <a:prstGeom prst="rect">
            <a:avLst/>
          </a:prstGeom>
          <a:ln w="0">
            <a:noFill/>
          </a:ln>
        </p:spPr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612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Positive meaning more likely to leave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sldNum" idx="14"/>
          </p:nvPr>
        </p:nvSpPr>
        <p:spPr>
          <a:xfrm>
            <a:off x="4402080" y="9553680"/>
            <a:ext cx="3368160" cy="504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FDDD9D3-BB5E-44BB-A598-2F758C5F18B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32160" cy="3393720"/>
          </a:xfrm>
          <a:prstGeom prst="rect">
            <a:avLst/>
          </a:prstGeom>
          <a:ln w="0">
            <a:noFill/>
          </a:ln>
        </p:spPr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612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Negative meaning more likely to cause employees to stay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sldNum" idx="15"/>
          </p:nvPr>
        </p:nvSpPr>
        <p:spPr>
          <a:xfrm>
            <a:off x="4402080" y="9553680"/>
            <a:ext cx="3368160" cy="504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C402D7E-4759-4551-9ABE-3D4A61CE1CB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ueprint Plan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10079280" cy="566928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504000" y="810000"/>
            <a:ext cx="9071280" cy="129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504000" y="2376000"/>
            <a:ext cx="9071280" cy="275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4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4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1"/>
          </p:nvPr>
        </p:nvSpPr>
        <p:spPr>
          <a:xfrm>
            <a:off x="504000" y="516492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ftr" idx="2"/>
          </p:nvPr>
        </p:nvSpPr>
        <p:spPr>
          <a:xfrm>
            <a:off x="3447360" y="516492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sldNum" idx="3"/>
          </p:nvPr>
        </p:nvSpPr>
        <p:spPr>
          <a:xfrm>
            <a:off x="7227360" y="516492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CFF9214-BC7A-42A6-B5F4-FCB84BBD10C9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10079280" cy="566928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810000"/>
            <a:ext cx="9071280" cy="129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Click to edit </a:t>
            </a: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the title text </a:t>
            </a: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format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4000" y="2376000"/>
            <a:ext cx="9071280" cy="275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4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4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4"/>
          </p:nvPr>
        </p:nvSpPr>
        <p:spPr>
          <a:xfrm>
            <a:off x="504000" y="516492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5"/>
          </p:nvPr>
        </p:nvSpPr>
        <p:spPr>
          <a:xfrm>
            <a:off x="3447360" y="516492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6"/>
          </p:nvPr>
        </p:nvSpPr>
        <p:spPr>
          <a:xfrm>
            <a:off x="7227360" y="516492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94BB11B-D160-45AB-8406-F8D3C1094560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10079280" cy="566928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</a:t>
            </a: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title text format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  <a:lvl2pPr lvl="1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2pPr>
            <a:lvl3pPr lvl="2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3pPr>
            <a:lvl4pPr lvl="3" algn="l" defTabSz="914400">
              <a:lnSpc>
                <a:spcPct val="90000"/>
              </a:lnSpc>
              <a:spcBef>
                <a:spcPts val="42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4pPr>
            <a:lvl5pPr lvl="4" algn="l" defTabSz="914400">
              <a:lnSpc>
                <a:spcPct val="9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5pPr>
            <a:lvl6pPr lvl="5" algn="l" defTabSz="914400">
              <a:lnSpc>
                <a:spcPct val="9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6pPr>
            <a:lvl7pPr lvl="6" algn="l" defTabSz="914400">
              <a:lnSpc>
                <a:spcPct val="9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2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7"/>
          </p:nvPr>
        </p:nvSpPr>
        <p:spPr>
          <a:xfrm>
            <a:off x="504000" y="5165280"/>
            <a:ext cx="234756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8"/>
          </p:nvPr>
        </p:nvSpPr>
        <p:spPr>
          <a:xfrm>
            <a:off x="3447360" y="5165280"/>
            <a:ext cx="319428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9"/>
          </p:nvPr>
        </p:nvSpPr>
        <p:spPr>
          <a:xfrm>
            <a:off x="7227360" y="5165280"/>
            <a:ext cx="234756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8EAC96A-4892-4393-8DB6-F034E4BDB52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809280"/>
            <a:ext cx="9071280" cy="129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Will I Stay or Will I Go Now?</a:t>
            </a:r>
            <a:br>
              <a:rPr sz="4400"/>
            </a:b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A report on Attrition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ubTitle"/>
          </p:nvPr>
        </p:nvSpPr>
        <p:spPr>
          <a:xfrm>
            <a:off x="504000" y="2375280"/>
            <a:ext cx="9071280" cy="2754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marL="228600" indent="0" algn="ctr" defTabSz="914400">
              <a:lnSpc>
                <a:spcPct val="90000"/>
              </a:lnSpc>
              <a:spcBef>
                <a:spcPts val="1414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By: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ctr" defTabSz="914400">
              <a:lnSpc>
                <a:spcPct val="90000"/>
              </a:lnSpc>
              <a:spcBef>
                <a:spcPts val="1414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Stacy Bowler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ctr" defTabSz="914400">
              <a:lnSpc>
                <a:spcPct val="90000"/>
              </a:lnSpc>
              <a:spcBef>
                <a:spcPts val="1414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and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ctr" defTabSz="914400">
              <a:lnSpc>
                <a:spcPct val="90000"/>
              </a:lnSpc>
              <a:spcBef>
                <a:spcPts val="1414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Derrik Miller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12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Business Problem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504000" y="1371600"/>
            <a:ext cx="9071280" cy="365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Employee turnover is an expensive problem for a company.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Let’s assume that the business looses $40,000 every time an employee leaves due to lost productivity as well as time spent to find, hire, and train a new employee.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With that in mind, should we adopt a retention program using this predictive model and how much financial value does it create?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primary objective is to accurately determine which employees are likely to quit before they do.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Box 23"/>
          <p:cNvSpPr/>
          <p:nvPr/>
        </p:nvSpPr>
        <p:spPr>
          <a:xfrm>
            <a:off x="2273400" y="2721240"/>
            <a:ext cx="5558760" cy="23112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How much financial value does using this predictive model create compared with not using one?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Box 24"/>
          <p:cNvSpPr/>
          <p:nvPr/>
        </p:nvSpPr>
        <p:spPr>
          <a:xfrm>
            <a:off x="2273760" y="2721240"/>
            <a:ext cx="5558760" cy="23112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How much financial value does using this predictive model create compared with not using one?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12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Executive Summary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504000" y="1327320"/>
            <a:ext cx="9071280" cy="393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Based on the assumptions: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Font typeface="OpenSymbol"/>
              <a:buChar char="-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Cost of employee turnover: $40,000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Font typeface="OpenSymbol"/>
              <a:buChar char="-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Cost of retention intervention: $8,000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3" indent="-216000" algn="l" defTabSz="914400">
              <a:lnSpc>
                <a:spcPct val="90000"/>
              </a:lnSpc>
              <a:spcBef>
                <a:spcPts val="425"/>
              </a:spcBef>
              <a:buClr>
                <a:srgbClr val="000000"/>
              </a:buClr>
              <a:buFont typeface="OpenSymbol"/>
              <a:buChar char="-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This could be given as one time bonuses, annual pay increases, or other career growth opportunities. Depending on the needs of the employee.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Font typeface="OpenSymbol"/>
              <a:buChar char="-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Retention intervention success rate: 60%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Using this model to intervene would save the company $260,800 in expected costs. It is worth having a retention program.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program would cost $272,000 invested into 34 total employees, 13 of which were false positives.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This resulted in ~ 13/21 employees being retained for a total savings of $520,000.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12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Summary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29200" y="1326600"/>
            <a:ext cx="907128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source: kaggle.com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data is a fictional dataset created by IBM data scientists.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dataset contains 1470 rows of data.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12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Preparation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457200" y="1326600"/>
            <a:ext cx="907128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dataset contains 35 different points and required little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cleaning.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For this project, we converted ‘Attrition’ to a binary outcome where </a:t>
            </a: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Yes = 1 - meaning the employee left the company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3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Removed from data: 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'Attrition’, 'Department', 'EmployeeNumber', 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'DailyRate', 'MonthlyIncome', 'EmployeeCount', 'Over18', 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'PerformanceRating', 'StandardHours’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4" indent="-216000" algn="l" defTabSz="914400">
              <a:lnSpc>
                <a:spcPct val="9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These were removed due to the similarities shared with other 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predictors, and thus they were just adding more noise.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spcBef>
                <a:spcPts val="850"/>
              </a:spcBef>
              <a:buNone/>
              <a:tabLst>
                <a:tab pos="0" algn="l"/>
              </a:tabLst>
            </a:pP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12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Overtime vs Attrition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620640" y="4658400"/>
            <a:ext cx="8838000" cy="78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Employees who work overtime are much more likely to leave.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" name="Picture 34"/>
          <p:cNvPicPr/>
          <p:nvPr/>
        </p:nvPicPr>
        <p:blipFill>
          <a:blip r:embed="rId1"/>
          <a:stretch/>
        </p:blipFill>
        <p:spPr>
          <a:xfrm>
            <a:off x="2415240" y="965520"/>
            <a:ext cx="5248800" cy="3656880"/>
          </a:xfrm>
          <a:prstGeom prst="rect">
            <a:avLst/>
          </a:prstGeom>
          <a:noFill/>
          <a:ln w="180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12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Satisfaction vs </a:t>
            </a: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Attrition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338148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4 = Very Satisfied,    1 = Not Satisfied.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More satisfied employees are more likely to stay.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Picture 37"/>
          <p:cNvPicPr/>
          <p:nvPr/>
        </p:nvPicPr>
        <p:blipFill>
          <a:blip r:embed="rId1"/>
          <a:stretch/>
        </p:blipFill>
        <p:spPr>
          <a:xfrm>
            <a:off x="3886200" y="939600"/>
            <a:ext cx="6025680" cy="4317480"/>
          </a:xfrm>
          <a:prstGeom prst="rect">
            <a:avLst/>
          </a:prstGeom>
          <a:noFill/>
          <a:ln w="180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12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Age vs Attrition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456480" y="1231920"/>
            <a:ext cx="4067280" cy="4254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Younger employees are more likely to leave, but levels off, then reverses around age 45.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Younger employees may be more mobile and able to accept jobs elsewhere.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Middle-age workers are more likely to have families, and opt for more stable employment.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Older employees could be leaving for more senior level positions or retirement.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" name="Picture 40"/>
          <p:cNvPicPr/>
          <p:nvPr/>
        </p:nvPicPr>
        <p:blipFill>
          <a:blip r:embed="rId1"/>
          <a:stretch/>
        </p:blipFill>
        <p:spPr>
          <a:xfrm>
            <a:off x="4524120" y="1172520"/>
            <a:ext cx="5236200" cy="3989880"/>
          </a:xfrm>
          <a:prstGeom prst="rect">
            <a:avLst/>
          </a:prstGeom>
          <a:noFill/>
          <a:ln w="180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12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Commute Vs Attrition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1339920" y="4384080"/>
            <a:ext cx="756936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Commute distance impacts attrition, but the affect wanes around 15-20 miles.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" name="Picture 43"/>
          <p:cNvPicPr/>
          <p:nvPr/>
        </p:nvPicPr>
        <p:blipFill>
          <a:blip r:embed="rId1"/>
          <a:stretch/>
        </p:blipFill>
        <p:spPr>
          <a:xfrm>
            <a:off x="2615760" y="887760"/>
            <a:ext cx="5004000" cy="3428640"/>
          </a:xfrm>
          <a:prstGeom prst="rect">
            <a:avLst/>
          </a:prstGeom>
          <a:noFill/>
          <a:ln w="180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12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Age vs Total Working Years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1956960" y="4500360"/>
            <a:ext cx="6364440" cy="697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Age is somewhat correlated with total working years, but not as much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as expected.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" name="Picture 46"/>
          <p:cNvPicPr/>
          <p:nvPr/>
        </p:nvPicPr>
        <p:blipFill>
          <a:blip r:embed="rId1"/>
          <a:stretch/>
        </p:blipFill>
        <p:spPr>
          <a:xfrm>
            <a:off x="2516400" y="923040"/>
            <a:ext cx="5180040" cy="3443040"/>
          </a:xfrm>
          <a:prstGeom prst="rect">
            <a:avLst/>
          </a:prstGeom>
          <a:noFill/>
          <a:ln w="180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12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Number of Companies and Attrition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2616480" y="4316760"/>
            <a:ext cx="5072400" cy="884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Employees that have worked at more companies are more likely to leave.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Picture 55"/>
          <p:cNvPicPr/>
          <p:nvPr/>
        </p:nvPicPr>
        <p:blipFill>
          <a:blip r:embed="rId1"/>
          <a:stretch/>
        </p:blipFill>
        <p:spPr>
          <a:xfrm>
            <a:off x="2477160" y="938520"/>
            <a:ext cx="5126040" cy="3377880"/>
          </a:xfrm>
          <a:prstGeom prst="rect">
            <a:avLst/>
          </a:prstGeom>
          <a:noFill/>
          <a:ln w="180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Introduction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decided to go with an Elastic Net model.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tried running the data set against an Elastic Net, Ridge, and LASSO models. We also considered interactions, but ultimately the added complexity didn’t provide any additional value.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Elastic Net was selected because it achieved comparable utility to the other models while providing better accuracy and precision.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Precision was important, because each false positive costs the company $8,000.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12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Model Analysis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p>
            <a:pPr indent="-228600"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We tried running the data set against an Elastic Net, Ridge, and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LASSO models. We also considered interactions, but ultimately the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added complexity didn’t provide any additional value.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228600"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Elastic Net provided the best overall balance of predictive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performance and business value.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1" indent="-324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Highest cross-validated business utility (tied with Ridge)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1" indent="-324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Highest overall accuracy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1" indent="-324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Highest precision while maintaining an AUC comparable to the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other models.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060"/>
              </a:spcBef>
              <a:buNone/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Top Positive Predictors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" name="Picture 57"/>
          <p:cNvPicPr/>
          <p:nvPr/>
        </p:nvPicPr>
        <p:blipFill>
          <a:blip r:embed="rId1"/>
          <a:stretch/>
        </p:blipFill>
        <p:spPr>
          <a:xfrm>
            <a:off x="2355120" y="1304280"/>
            <a:ext cx="5370120" cy="3851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Top Negative Predictors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" name="Picture 59"/>
          <p:cNvPicPr/>
          <p:nvPr/>
        </p:nvPicPr>
        <p:blipFill>
          <a:blip r:embed="rId1"/>
          <a:stretch/>
        </p:blipFill>
        <p:spPr>
          <a:xfrm>
            <a:off x="2223000" y="1172160"/>
            <a:ext cx="5633280" cy="4038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12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Important Continuous Predictors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93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Overtime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Employees working overtime have roughly 8 times the odds of attrition compared with employees who do not, holding the other variables constant: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E^2.07 ≈ 7.95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Marital Status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Single employees have roughly 5 times the odds of attrition compared to divorced employees, holding the over variables constant: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E^1.60 ≈ 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Important Continuous Predictors (continued)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47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Business Travel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Employees traveling frequently have roughly 7.5 times the odds of attrition compared to employees who do not travel, holding the other variables constant: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E^2.02 ≈ 7.5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Employees traveling rarely also have roughly 2.9 times the odds of attrition compared to employees who do not travel, holding the other variables constant: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E^1.05 ≈ 2.9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504000" y="470520"/>
            <a:ext cx="907128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Top Predictors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9" name="Table 65"/>
          <p:cNvGraphicFramePr/>
          <p:nvPr/>
        </p:nvGraphicFramePr>
        <p:xfrm>
          <a:off x="1644840" y="1181880"/>
          <a:ext cx="6857640" cy="3657240"/>
        </p:xfrm>
        <a:graphic>
          <a:graphicData uri="http://schemas.openxmlformats.org/drawingml/2006/table">
            <a:tbl>
              <a:tblPr/>
              <a:tblGrid>
                <a:gridCol w="3432960"/>
                <a:gridCol w="3425040"/>
              </a:tblGrid>
              <a:tr h="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en-US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Predictor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/>
                      <a:r>
                        <a:rPr lang="en-US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Effect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</a:tr>
              <a:tr h="0"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Years Since Last Promotion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Strongest Positive Effect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06440"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Number of companies worked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Strong Positive Effect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99960"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Overtime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Strong Positive Effect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7800"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Business Travel (Frequent)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Moderate Positive Effect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7800"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Distance From Home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Moderate Positive Effect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7800"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Environment Satisfaction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Strong Negative Effect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7800"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Job Satisfaction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Negative Effect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9600"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Total Working Years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Negative Effect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Recommendations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Monitor employees with sustained overtime requirements.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Reviewing workload and travel expectations for frequently traveling employees.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Provide career development opportunities for employees experiencing perceived stalled progression.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 satisfaction measures as early indicators of disengagement.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Conclusion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/>
          <p:nvPr/>
        </p:nvSpPr>
        <p:spPr>
          <a:xfrm>
            <a:off x="504000" y="1433880"/>
            <a:ext cx="9071280" cy="328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 marL="432000" indent="-324000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Based on our assumptions and the data available, a retention program is well worth the investment as it results in significant cost savings from having to replace an employee.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2" indent="-216000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Symbol" charset="2"/>
              <a:buChar char="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Monetary benefits can be one time installments, a more permanent yearly raise, or an investment into career growth opportunities.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Money invested into employees as false positives is still likely to improve moral, productivity, and possible other benefits.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Over time and with more data, the model may be improved resulting in even more savings.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Closing Thoughts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this example: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Targeted 34 high-risk employees with an $8,000 intervention (</a:t>
            </a:r>
            <a:r>
              <a:rPr lang="en-US" sz="2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$272,000 total investment</a:t>
            </a: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Successfully retains 13 employees who otherwise would have left.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 employees were false positives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 employees left the company even after the intervention attempt.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 $40,000 saved per retained employee (</a:t>
            </a:r>
            <a:r>
              <a:rPr lang="en-US" sz="2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$520,000 gross savings</a:t>
            </a: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), the program yields a </a:t>
            </a:r>
            <a:r>
              <a:rPr lang="en-US" sz="2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 ROI of </a:t>
            </a:r>
            <a:r>
              <a:rPr lang="en-US" sz="2100" b="1" u="none" strike="noStrike">
                <a:solidFill>
                  <a:srgbClr val="00A933"/>
                </a:solidFill>
                <a:effectLst/>
                <a:uFillTx/>
                <a:latin typeface="Arial"/>
              </a:rPr>
              <a:t>$248,000</a:t>
            </a: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What’s Next?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Identify ideal data.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Since this data was simulated, it’s possible we could build a stronger model if we had real data.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additional employee engagement and compensation variables.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Try to measure whether targeted interventions actually reduce attrition after identification over the long term.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173</TotalTime>
  <Application>LibreOffice/26.2.4.2$Linux_X86_64 LibreOffice_project/620$Build-2</Application>
  <AppVersion>15.0000</AppVersion>
  <Words>781</Words>
  <Paragraphs>90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2026-07-21T18:18:30Z</dcterms:created>
  <dc:creator/>
  <dc:description>This work is licensed under a Creative Commons Attribution-ShareAlike 3.0 Unported License.
It makes use of the works of Mateus Machado Luna.
SVG pictures were made by Rizmut.</dc:description>
  <dc:language>en-US</dc:language>
  <cp:lastModifiedBy/>
  <dcterms:modified xsi:type="dcterms:W3CDTF">2026-08-03T22:56:24Z</dcterms:modified>
  <cp:revision>47</cp:revision>
  <dc:subject/>
  <dc:title>Blueprint Plans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2</vt:i4>
  </property>
  <property fmtid="{D5CDD505-2E9C-101B-9397-08002B2CF9AE}" pid="3" name="Notes">
    <vt:i4>3</vt:i4>
  </property>
  <property fmtid="{D5CDD505-2E9C-101B-9397-08002B2CF9AE}" pid="4" name="PresentationFormat">
    <vt:lpwstr>Custom</vt:lpwstr>
  </property>
  <property fmtid="{D5CDD505-2E9C-101B-9397-08002B2CF9AE}" pid="5" name="Slides">
    <vt:i4>17</vt:i4>
  </property>
</Properties>
</file>