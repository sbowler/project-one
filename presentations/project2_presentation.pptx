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10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066E75-1943-4841-9BB4-67C900D60EA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038D-BB64-48CA-8577-8E4F392A4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62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</a:t>
            </a:r>
            <a:r>
              <a:rPr lang="en-US" sz="1200" dirty="0"/>
              <a:t> may be due to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employees that have worked at more companies are more likely to be looking for new opportunities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Could also be retirees or other senior employees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E038D-BB64-48CA-8577-8E4F392A408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119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Positive meaning more likely to leave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E038D-BB64-48CA-8577-8E4F392A408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998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Negative meaning more likely to cause employees to stay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E038D-BB64-48CA-8577-8E4F392A408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38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print Pla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640" cy="12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640" cy="275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A11C9A-C516-44C5-BF63-3E32968FC90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1640" cy="12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1640" cy="275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50400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47360" y="516492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227360" y="516492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BD4239-435F-4F7B-83BF-05A50DA0C18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Stand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007964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  <a:lvl6pPr lvl="5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6pPr>
            <a:lvl7pPr lvl="6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79E2A3-348B-4F79-AB40-BDAE33C9707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809640"/>
            <a:ext cx="9071640" cy="1296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Will I Stay or Will I Go Now?</a:t>
            </a:r>
            <a:br>
              <a:rPr sz="4400"/>
            </a:b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report on Attrition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2375640"/>
            <a:ext cx="9071640" cy="2754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By: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Stacy Bowler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and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71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dirty="0"/>
              <a:t>Should we adopt a retention program using 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predictive model </a:t>
            </a:r>
            <a:r>
              <a:rPr lang="en-US" sz="1500" dirty="0"/>
              <a:t>and how much financial value does it </a:t>
            </a: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create?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primary objective is to accurately determine which employees are likely to quit before they do.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23"/>
          <p:cNvSpPr/>
          <p:nvPr/>
        </p:nvSpPr>
        <p:spPr>
          <a:xfrm>
            <a:off x="2273400" y="2721240"/>
            <a:ext cx="5559120" cy="2314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How much financial value does using this predictive model create compared with not using one?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24"/>
          <p:cNvSpPr/>
          <p:nvPr/>
        </p:nvSpPr>
        <p:spPr>
          <a:xfrm>
            <a:off x="2273760" y="2721240"/>
            <a:ext cx="5559120" cy="231480"/>
          </a:xfrm>
          <a:prstGeom prst="rect">
            <a:avLst/>
          </a:prstGeom>
          <a:noFill/>
          <a:ln w="180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How much financial value does using this predictive model create compared with not using one?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93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dirty="0"/>
              <a:t>Based on the assumptions:</a:t>
            </a: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employee turnover: $40,000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Cost of retention intervention: $8,000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Retention intervention success rate: 60%</a:t>
            </a: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Using this model to intervene would save $260,800 in expected costs so it is worth having a retention program.</a:t>
            </a: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dirty="0"/>
              <a:t>The program would cost $272,000 invested into 34 total employees, 13 of which were false positives</a:t>
            </a: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dirty="0"/>
              <a:t>Resulted in ~ 13/21 employees being retained for a savings of $520,000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292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source: kaggle.com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is a fictional dataset created by IBM data scientists.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contains 1470 rows of data.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dataset contains 35 different points and required little cleaning.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this project, we converted ‘Attrition’ to a binary outcome where Yes = 1 - meaning the employee left the company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3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Removed from data: 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'Attrition’, 'Department',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EmployeeNumber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DailyRate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MonthlyIncome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EmployeeCount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', 'Over18',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PerformanceRating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', '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StandardHours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DejaVu Sans"/>
              </a:rPr>
              <a:t>'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850"/>
              </a:spcBef>
              <a:buNone/>
            </a:pP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620583" y="4658350"/>
            <a:ext cx="8838474" cy="78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who work overtime are much more likely to leave.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34"/>
          <p:cNvPicPr/>
          <p:nvPr/>
        </p:nvPicPr>
        <p:blipFill>
          <a:blip r:embed="rId2"/>
          <a:stretch/>
        </p:blipFill>
        <p:spPr>
          <a:xfrm>
            <a:off x="2415240" y="965594"/>
            <a:ext cx="5249160" cy="365724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Satisfaction vs Attrition</a:t>
            </a:r>
            <a:endParaRPr lang="en-US" sz="3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33818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 = Very Satisfied,    1 = Not Satisfied.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More satisfied employees are more likely to stay.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Picture 37"/>
          <p:cNvPicPr/>
          <p:nvPr/>
        </p:nvPicPr>
        <p:blipFill>
          <a:blip r:embed="rId2"/>
          <a:stretch/>
        </p:blipFill>
        <p:spPr>
          <a:xfrm>
            <a:off x="3886200" y="939600"/>
            <a:ext cx="6026040" cy="431784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Attrition</a:t>
            </a:r>
            <a:endParaRPr lang="en-US" sz="3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6480" y="1231920"/>
            <a:ext cx="4067640" cy="393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are more likely to leave, but levels off, then reverses around age 45.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Younger employees </a:t>
            </a:r>
            <a:r>
              <a:rPr lang="en-US" sz="2100" dirty="0">
                <a:solidFill>
                  <a:srgbClr val="000000"/>
                </a:solidFill>
                <a:latin typeface="Arial"/>
                <a:ea typeface="DejaVu Sans"/>
              </a:rPr>
              <a:t>may be</a:t>
            </a: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more mobile and able to accept jobs elsewhere.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Middle-age workers are more likely to have families, and opt for more stable employment.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Older employees could be leaving for more senior level positions or retirement.</a:t>
            </a:r>
            <a:endParaRPr lang="en-US" sz="2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40"/>
          <p:cNvPicPr/>
          <p:nvPr/>
        </p:nvPicPr>
        <p:blipFill>
          <a:blip r:embed="rId2"/>
          <a:stretch/>
        </p:blipFill>
        <p:spPr>
          <a:xfrm>
            <a:off x="4524120" y="1172520"/>
            <a:ext cx="5236568" cy="3990240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Vs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1340065" y="4384011"/>
            <a:ext cx="7569656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Commute distance impacts attrition, but </a:t>
            </a:r>
            <a:r>
              <a:rPr lang="en-US" sz="2400" dirty="0"/>
              <a:t>the affect wanes around 15-20 miles</a:t>
            </a: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/>
          <p:cNvPicPr/>
          <p:nvPr/>
        </p:nvPicPr>
        <p:blipFill>
          <a:blip r:embed="rId2"/>
          <a:stretch/>
        </p:blipFill>
        <p:spPr>
          <a:xfrm>
            <a:off x="2615609" y="887855"/>
            <a:ext cx="5004331" cy="3428964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vs Total Working Years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1957115" y="4500449"/>
            <a:ext cx="6364633" cy="69797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Age is somewhat correlated with total working years, but not as much as expected.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Picture 46"/>
          <p:cNvPicPr/>
          <p:nvPr/>
        </p:nvPicPr>
        <p:blipFill>
          <a:blip r:embed="rId2"/>
          <a:stretch/>
        </p:blipFill>
        <p:spPr>
          <a:xfrm>
            <a:off x="2516372" y="923072"/>
            <a:ext cx="5180248" cy="3443365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Number of Companies and Attrition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2616334" y="4316819"/>
            <a:ext cx="5072760" cy="88497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that have worked at more companies are more likely to leave.</a:t>
            </a:r>
          </a:p>
        </p:txBody>
      </p:sp>
      <p:pic>
        <p:nvPicPr>
          <p:cNvPr id="56" name="Picture 55"/>
          <p:cNvPicPr/>
          <p:nvPr/>
        </p:nvPicPr>
        <p:blipFill>
          <a:blip r:embed="rId3"/>
          <a:stretch/>
        </p:blipFill>
        <p:spPr>
          <a:xfrm>
            <a:off x="2477150" y="938515"/>
            <a:ext cx="5126323" cy="3378304"/>
          </a:xfrm>
          <a:prstGeom prst="rect">
            <a:avLst/>
          </a:prstGeom>
          <a:noFill/>
          <a:ln w="1800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Positive Predictors</a:t>
            </a:r>
          </a:p>
        </p:txBody>
      </p:sp>
      <p:pic>
        <p:nvPicPr>
          <p:cNvPr id="58" name="Picture 57"/>
          <p:cNvPicPr/>
          <p:nvPr/>
        </p:nvPicPr>
        <p:blipFill>
          <a:blip r:embed="rId3"/>
          <a:stretch/>
        </p:blipFill>
        <p:spPr>
          <a:xfrm>
            <a:off x="2355110" y="1304261"/>
            <a:ext cx="5370403" cy="3851598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Negative Predictors</a:t>
            </a:r>
          </a:p>
        </p:txBody>
      </p:sp>
      <p:pic>
        <p:nvPicPr>
          <p:cNvPr id="60" name="Picture 59"/>
          <p:cNvPicPr/>
          <p:nvPr/>
        </p:nvPicPr>
        <p:blipFill>
          <a:blip r:embed="rId3"/>
          <a:stretch/>
        </p:blipFill>
        <p:spPr>
          <a:xfrm>
            <a:off x="2223000" y="1172160"/>
            <a:ext cx="5633640" cy="4038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Analysis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572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Elastic Net provided the best overall balance of predictive performance and business value.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cross-validated business utility (tied with Ridge)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overall accuracy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Highest precision while maintaining an AUC comparable to the other models.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Our analysis indicated that the dataset contained a relatively stable set of predictors with limited multicollinearity. We removed some predictors where we saw or predicted multicollinearity or identical values in for all observations.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164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Important Continuous Predictors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93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55000" lnSpcReduction="20000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Overtime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working overtime have roughly 8 times the odds of attrition compared with employees who do not, holding the other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E^2.07 ≈ 7.95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Travel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frequently have roughly 7.5 times the odds of attrition compared to employees who do not travel, holding the other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E^2.02 ≈ 7.5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Employees traveling rarely also have roughly 2.9 times the odds of attrition compared to employees who do not travel, holding the other variables constant: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E^1.05 ≈ 2.9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Marital Status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Single employees have roughly 5 times the odds of attrition compared to divorced employees, holding the over variables constant: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E^1.60 ≈ 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470416"/>
            <a:ext cx="9071640" cy="45704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Top Predictors</a:t>
            </a:r>
            <a:endParaRPr lang="en-US" sz="3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6" name="Table 65"/>
          <p:cNvGraphicFramePr/>
          <p:nvPr/>
        </p:nvGraphicFramePr>
        <p:xfrm>
          <a:off x="1535040" y="968040"/>
          <a:ext cx="6858000" cy="3678840"/>
        </p:xfrm>
        <a:graphic>
          <a:graphicData uri="http://schemas.openxmlformats.org/drawingml/2006/table">
            <a:tbl>
              <a:tblPr/>
              <a:tblGrid>
                <a:gridCol w="343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2200">
                <a:tc>
                  <a:txBody>
                    <a:bodyPr/>
                    <a:lstStyle/>
                    <a:p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Years Since Last Promotion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Strongest Positive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9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DejaVu Sans"/>
                        </a:rPr>
                        <a:t>Number of companies worked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Strong Positive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4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Overtime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Moderate Positive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Business Travel (Frequent)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Moderate Positive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680">
                <a:tc>
                  <a:txBody>
                    <a:bodyPr/>
                    <a:lstStyle/>
                    <a:p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Distance From Home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Negative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Environment Satisfaction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Negative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06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Job Satisfaction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Negative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480">
                <a:tc>
                  <a:txBody>
                    <a:bodyPr/>
                    <a:lstStyle/>
                    <a:p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Total Working Years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Negative Effect</a:t>
                      </a:r>
                    </a:p>
                  </a:txBody>
                  <a:tcPr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693F3-1E18-7247-D480-E6BCB4530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PlaceHolder 2">
            <a:extLst>
              <a:ext uri="{FF2B5EF4-FFF2-40B4-BE49-F238E27FC236}">
                <a16:creationId xmlns:a16="http://schemas.microsoft.com/office/drawing/2014/main" id="{7BC89BA4-7366-26DA-7CF4-E89BDD986E81}"/>
              </a:ext>
            </a:extLst>
          </p:cNvPr>
          <p:cNvSpPr txBox="1">
            <a:spLocks/>
          </p:cNvSpPr>
          <p:nvPr/>
        </p:nvSpPr>
        <p:spPr>
          <a:xfrm>
            <a:off x="504000" y="1433903"/>
            <a:ext cx="907164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0" algn="l"/>
              </a:tabLst>
              <a:defRPr lang="en-US" sz="33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DejaVu Sans"/>
                <a:cs typeface="+mj-cs"/>
              </a:defRPr>
            </a:lvl1pPr>
          </a:lstStyle>
          <a:p>
            <a:pPr marL="432000" indent="-324000"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dirty="0"/>
              <a:t>Based on our assumptions and the data available, a retention program is well worth the investment as it results in significant cost savings from having to replace an employee.</a:t>
            </a:r>
          </a:p>
          <a:p>
            <a:pPr marL="432000" indent="-324000"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Money invested into employees as false positives is still likely to improve moral, productivity, and possible other benefits.</a:t>
            </a:r>
          </a:p>
          <a:p>
            <a:pPr marL="432000" indent="-324000"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kern="0" dirty="0">
                <a:solidFill>
                  <a:srgbClr val="000000"/>
                </a:solidFill>
                <a:latin typeface="Arial"/>
              </a:rPr>
              <a:t>Over time and with more data, the model may be improved resulting in even more savings.</a:t>
            </a:r>
          </a:p>
        </p:txBody>
      </p:sp>
    </p:spTree>
    <p:extLst>
      <p:ext uri="{BB962C8B-B14F-4D97-AF65-F5344CB8AC3E}">
        <p14:creationId xmlns:p14="http://schemas.microsoft.com/office/powerpoint/2010/main" val="1243515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781</Words>
  <Application>Microsoft Office PowerPoint</Application>
  <PresentationFormat>Custom</PresentationFormat>
  <Paragraphs>90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Symbol</vt:lpstr>
      <vt:lpstr>Times New Roman</vt:lpstr>
      <vt:lpstr>Wingdings</vt:lpstr>
      <vt:lpstr>Office</vt:lpstr>
      <vt:lpstr>Will I Stay or Will I Go Now? A report on Attrition</vt:lpstr>
      <vt:lpstr>Business Problem</vt:lpstr>
      <vt:lpstr>Executive Summary</vt:lpstr>
      <vt:lpstr>Data Summary</vt:lpstr>
      <vt:lpstr>Data Preparation</vt:lpstr>
      <vt:lpstr>Overtime vs Attrition</vt:lpstr>
      <vt:lpstr>Satisfaction vs Attrition</vt:lpstr>
      <vt:lpstr>Age vs Attrition</vt:lpstr>
      <vt:lpstr>Commute Vs Attrition</vt:lpstr>
      <vt:lpstr>Age vs Total Working Years</vt:lpstr>
      <vt:lpstr>Number of Companies and Attrition</vt:lpstr>
      <vt:lpstr>Top Positive Predictors</vt:lpstr>
      <vt:lpstr>Top Negative Predictors</vt:lpstr>
      <vt:lpstr>Model Analysis</vt:lpstr>
      <vt:lpstr>Important Continuous Predictors</vt:lpstr>
      <vt:lpstr>Top Predictors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Blueprint Plans</dc:title>
  <dc:subject/>
  <dc:creator/>
  <dc:description>This work is licensed under a Creative Commons Attribution-ShareAlike 3.0 Unported License.
It makes use of the works of Mateus Machado Luna.
SVG pictures were made by Rizmut.</dc:description>
  <cp:lastModifiedBy>Stacy Bowler</cp:lastModifiedBy>
  <cp:revision>37</cp:revision>
  <dcterms:created xsi:type="dcterms:W3CDTF">2026-07-21T18:18:30Z</dcterms:created>
  <dcterms:modified xsi:type="dcterms:W3CDTF">2026-07-30T04:43:04Z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PresentationFormat">
    <vt:lpwstr>Custom</vt:lpwstr>
  </property>
  <property fmtid="{D5CDD505-2E9C-101B-9397-08002B2CF9AE}" pid="4" name="Slides">
    <vt:i4>16</vt:i4>
  </property>
</Properties>
</file>