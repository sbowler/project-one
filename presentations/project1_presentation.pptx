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1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13T19:08:30" idx="1">
    <p:pos x="0" y="0"/>
    <p:text>The model estimates that each additional year of age decreases vehicle value by approximately 13.8%, while every additional 10,000 miles reduces value by approximately 2.2%. Vehicle condition had a smaller but statistically significant effect, increasing value by approximately 2.0% for each one-point improvement in condition rating. 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40160" y="846360"/>
            <a:ext cx="62920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move the slide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40160" y="4402440"/>
            <a:ext cx="6292080" cy="47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 algn="l">
              <a:buNone/>
            </a:pPr>
            <a:r>
              <a:rPr lang="en-US" sz="276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Times New Roman"/>
              </a:rPr>
              <a:t>Click to edit the notes format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3"/>
          </p:nvPr>
        </p:nvSpPr>
        <p:spPr>
          <a:xfrm>
            <a:off x="439884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5"/>
          </p:nvPr>
        </p:nvSpPr>
        <p:spPr>
          <a:xfrm>
            <a:off x="439884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0A6092-1556-4449-B3DC-2C9E6481C09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70120" y="1257480"/>
            <a:ext cx="6032160" cy="3393720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4A3C6A-131E-4054-92C5-37DE74F1294D}" type="slidenum"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ED7CE1-FBE3-4D12-8581-8C8A2470A6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6D3D3C-5D5A-450A-AFCD-B9BE11C3775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775A3E-E17E-4EF6-96BB-09C3F29A0C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515628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A50AC9D-FF98-477D-A1AD-686CFE44950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9A0749-6A9F-4D39-8498-52C3C2D8316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4AE25F-E021-4FE9-943D-96977180DAC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lowchart: Document 17"/>
          <p:cNvSpPr/>
          <p:nvPr/>
        </p:nvSpPr>
        <p:spPr>
          <a:xfrm flipH="1" flipV="1">
            <a:off x="0" y="4500360"/>
            <a:ext cx="1008072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864000" lvl="1" indent="-324000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296000" lvl="2" indent="-288000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728000" lvl="3" indent="-216000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160000" lvl="4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592000" lvl="5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3024000" lvl="6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36000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420000" y="5220360"/>
            <a:ext cx="324036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738036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A9353A-9343-4F34-A793-909FCF2FE97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Calculating Trade in Value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By: Stacy Bowler &amp;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dealership must consistently evaluate customer trade-ins. It needs to know what price range could be offered as a trade in based on many factors like model, odometer, condition, age of vehicle.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19999"/>
          </a:bodyPr>
          <a:lstStyle/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age was the strongest continuous predictor of resale value.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year of age decreases vehicle value by approximately 13.8%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Every additional 10,000 miles reduces value by approximately 2.2%.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condition increased value by approximately 2.0% for each one-point improvement in condition rating.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type had the largest overall impact on value, with heavy-duty pickup trucks consistently commanding the highest prices.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These results suggest that dealerships should prioritize younger vehicles and high-demand truck models when acquiring inventory because those factors have the greatest influence on resale value.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839556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l">
              <a:spcBef>
                <a:spcPts val="1060"/>
              </a:spcBef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>
              <a:spcBef>
                <a:spcPts val="106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used was from the website Kaggle.com.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Bef>
                <a:spcPts val="85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was compiled from multiple dealerships. 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Nearly all used car sales data from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years range from 1996 to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Contains sales data from 34 different states in the US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 data points were vehicle age, odometer, condition, model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Cleaned data contained over 470,000 transactions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Picture 9"/>
          <p:cNvPicPr/>
          <p:nvPr/>
        </p:nvPicPr>
        <p:blipFill>
          <a:blip r:embed="rId2"/>
          <a:stretch/>
        </p:blipFill>
        <p:spPr>
          <a:xfrm>
            <a:off x="6287400" y="1222200"/>
            <a:ext cx="3310200" cy="3336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360" y="1365120"/>
            <a:ext cx="9071280" cy="3676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make: ‘ford truck’, ‘ford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tk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’ changed to ‘ford’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body: model specifies bodies such as ‘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cts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coupe’ and ‘g37 convertible’ changed to ‘coupe’ and ‘convertible’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nulls, removed extra spacing/characters, and lowercased various columns for consistency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colors to consistent values and converted any values like ‘-’ to ‘unknown’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Calculated age of vehicle at time of sale by pulling the sale year out of the sell date and manufacture year of vehicle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redundant features for multicollinearity – make, body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and color were ignored due to insignificance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(Manheim Market Report) was dropped as it was essentially an estimate of the value that we are modeling</a:t>
            </a:r>
            <a:endParaRPr lang="en-US" sz="1200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After cleaning the data, our analysis and conclusions were based on </a:t>
            </a:r>
            <a:r>
              <a:rPr lang="en-US" sz="12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1700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observations from the state of Utah.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Vehicle Age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" name="Content Placeholder 4"/>
          <p:cNvPicPr/>
          <p:nvPr/>
        </p:nvPicPr>
        <p:blipFill>
          <a:blip r:embed="rId3"/>
          <a:stretch/>
        </p:blipFill>
        <p:spPr>
          <a:xfrm>
            <a:off x="401760" y="1424520"/>
            <a:ext cx="3659040" cy="328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Picture 8"/>
          <p:cNvPicPr/>
          <p:nvPr/>
        </p:nvPicPr>
        <p:blipFill>
          <a:blip r:embed="rId4"/>
          <a:stretch/>
        </p:blipFill>
        <p:spPr>
          <a:xfrm>
            <a:off x="4327920" y="1467000"/>
            <a:ext cx="5408280" cy="324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Odometer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" name="Picture 8"/>
          <p:cNvPicPr/>
          <p:nvPr/>
        </p:nvPicPr>
        <p:blipFill>
          <a:blip r:embed="rId2"/>
          <a:stretch/>
        </p:blipFill>
        <p:spPr>
          <a:xfrm>
            <a:off x="998640" y="1059480"/>
            <a:ext cx="7511760" cy="4506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Non-Model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" name="Picture 6"/>
          <p:cNvPicPr/>
          <p:nvPr/>
        </p:nvPicPr>
        <p:blipFill>
          <a:blip r:embed="rId2"/>
          <a:stretch/>
        </p:blipFill>
        <p:spPr>
          <a:xfrm>
            <a:off x="754200" y="1406520"/>
            <a:ext cx="8572320" cy="285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Models &lt; 10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" name="Picture 6"/>
          <p:cNvPicPr/>
          <p:nvPr/>
        </p:nvPicPr>
        <p:blipFill>
          <a:blip r:embed="rId2"/>
          <a:stretch/>
        </p:blipFill>
        <p:spPr>
          <a:xfrm>
            <a:off x="132840" y="977760"/>
            <a:ext cx="10080360" cy="447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" name="Picture 4"/>
          <p:cNvPicPr/>
          <p:nvPr/>
        </p:nvPicPr>
        <p:blipFill>
          <a:blip r:embed="rId2"/>
          <a:stretch/>
        </p:blipFill>
        <p:spPr>
          <a:xfrm>
            <a:off x="771840" y="930600"/>
            <a:ext cx="8903160" cy="496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504000" y="1066680"/>
            <a:ext cx="9071280" cy="41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10,000 miles is associated with an average 2.2% decrease in selling price, holding all other variables constant.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year of vehicle age is associated with an average 13.8% decrease in selling price, holding all other variables constant.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one-point increase in vehicle condition is associated with approximately a 2.0% increase in selling price, holding all other variables constant.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Among the continuous vehicle characteristics (odometer, condition) analyzed, vehicle age has the strongest relationship with selling price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model captures differences in vehicle type, original MSRP, market demand, towing capability, luxury features, and brand perception that are not explained by age, mileage, or condition alone.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Heavy-duty pickup trucks consistently exhibited the highest estimated market values after controlling for age, mileage, condition, and transmission type.</a:t>
            </a:r>
            <a:endParaRPr lang="en-US" sz="18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91600"/>
            <a:ext cx="9000720" cy="85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60000" y="1371600"/>
            <a:ext cx="9360720" cy="35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model, we recommend the following: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Don’t sit on your inventory for too long for newer models. They depreciate a lot faster than vehicles 10+ years old.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Consider what it would take to raise the condition a few points and if it would be worth any monetary investment.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Heavy duty pickup trucks are typically safe investments. They hold onto their value far better than other categories.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model captures differences in vehicle type, original MSRP, market demand, towing capability, luxury features, and brand perception that are not explained by age, mileage, or condition alone.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Next Steps	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504000" y="2216160"/>
            <a:ext cx="9071280" cy="150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Investigate adding original MSRP data for each vehicle model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Appendix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Data Fields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Year - The manufacturing year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Make - The brand or manufacturer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- The specific model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Trim - Additional designation for the vehicle model.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Body - The body type of the vehicle (e.g., SUV, Sedan).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- The type of transmission in the vehicle (e.g., automatic).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Vin - Vehicle Identification Number, a unique code for each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State - The state where the vehicle is registered.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/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Condition - Condition of the vehicle, possibly rated on a scale of 1 - 50.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Odometer - The mileage or distance traveled by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Color - Exterior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Interior - Interior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Seller - The entity selling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- Manheim Market Report, possibly indicating the estimated market value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Selling Price - The price at which the vehicle was sold.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20000"/>
              </a:lnSpc>
              <a:spcBef>
                <a:spcPts val="1417"/>
              </a:spcBef>
              <a:buNone/>
            </a:pP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2088</TotalTime>
  <Words>837</Words>
  <Application>Microsoft Office PowerPoint</Application>
  <PresentationFormat>Custom</PresentationFormat>
  <Paragraphs>70</Paragraphs>
  <Slides>16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Symbol</vt:lpstr>
      <vt:lpstr>Times New Roman</vt:lpstr>
      <vt:lpstr>Wingdings</vt:lpstr>
      <vt:lpstr>Office</vt:lpstr>
      <vt:lpstr>Office</vt:lpstr>
      <vt:lpstr>Calculating Trade in Value</vt:lpstr>
      <vt:lpstr>Business Problem</vt:lpstr>
      <vt:lpstr>Executive Summary</vt:lpstr>
      <vt:lpstr>Data Summary</vt:lpstr>
      <vt:lpstr>Data Preparation</vt:lpstr>
      <vt:lpstr>Price vs Vehicle Age</vt:lpstr>
      <vt:lpstr>Price vs Odometer</vt:lpstr>
      <vt:lpstr>Non-Model Predictors</vt:lpstr>
      <vt:lpstr>Other Models &lt; 10</vt:lpstr>
      <vt:lpstr>Model Predictors</vt:lpstr>
      <vt:lpstr>Conclusion</vt:lpstr>
      <vt:lpstr>Conclusion</vt:lpstr>
      <vt:lpstr>Next Steps </vt:lpstr>
      <vt:lpstr>Questions?</vt:lpstr>
      <vt:lpstr>Appendix</vt:lpstr>
      <vt:lpstr>All Data Fields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Stacy Bowler</cp:lastModifiedBy>
  <cp:revision>67</cp:revision>
  <dcterms:created xsi:type="dcterms:W3CDTF">2026-06-08T20:57:34Z</dcterms:created>
  <dcterms:modified xsi:type="dcterms:W3CDTF">2026-06-14T03:37:24Z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Custom</vt:lpwstr>
  </property>
  <property fmtid="{D5CDD505-2E9C-101B-9397-08002B2CF9AE}" pid="4" name="Slides">
    <vt:i4>15</vt:i4>
  </property>
</Properties>
</file>