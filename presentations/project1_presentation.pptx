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s/comment3.xml" ContentType="application/vnd.openxmlformats-officedocument.presentationml.comments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0080625" cy="5670550"/>
  <p:notesSz cx="7772400" cy="10058400"/>
</p:presentation>
</file>

<file path=ppt/commentAuthors.xml><?xml version="1.0" encoding="utf-8"?>
<p:cmAuthorLst xmlns:p="http://schemas.openxmlformats.org/presentationml/2006/main">
  <p:cmAuthor id="0" name="" initials="" lastIdx="1" clrIdx="0"/>
</p:cmAuthorLst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4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presProps" Target="presProps.xml"/><Relationship Id="rId22" Type="http://schemas.openxmlformats.org/officeDocument/2006/relationships/commentAuthors" Target="commentAuthors.xml"/>
</Relationships>
</file>

<file path=ppt/comments/comment3.xml><?xml version="1.0" encoding="utf-8"?>
<p:cmLst xmlns:p="http://schemas.openxmlformats.org/presentationml/2006/main">
  <p:cm authorId="0" dt="2026-06-13T19:08:30.000000000" idx="1">
    <p:pos x="0" y="0"/>
    <p:text>The model estimates that each additional year of age decreases vehicle value by approximately 13.8%, while every additional 10,000 miles reduces value by approximately 2.2%. Vehicle condition had a smaller but statistically significant effect, increasing value by approximately 2.0% for each one-point improvement in condition rating. </p:tex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sldImg"/>
          </p:nvPr>
        </p:nvSpPr>
        <p:spPr>
          <a:xfrm>
            <a:off x="740160" y="846360"/>
            <a:ext cx="6292080" cy="323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3100" b="0" u="none" strike="noStrike">
                <a:solidFill>
                  <a:srgbClr val="DD4100"/>
                </a:solidFill>
                <a:effectLst/>
                <a:uFillTx/>
                <a:latin typeface="Times New Roman"/>
              </a:rPr>
              <a:t>Click to move the slide</a:t>
            </a:r>
            <a:endParaRPr lang="en-US" sz="31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740160" y="4402440"/>
            <a:ext cx="6292080" cy="474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 algn="l">
              <a:buNone/>
            </a:pPr>
            <a:r>
              <a:rPr lang="en-US" sz="276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Times New Roman"/>
              </a:rPr>
              <a:t>Click to edit the notes format</a:t>
            </a:r>
            <a:endParaRPr lang="en-US" sz="276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3"/>
          </p:nvPr>
        </p:nvSpPr>
        <p:spPr>
          <a:xfrm>
            <a:off x="439884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5"/>
          </p:nvPr>
        </p:nvSpPr>
        <p:spPr>
          <a:xfrm>
            <a:off x="439884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10A6092-1556-4449-B3DC-2C9E6481C09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870120" y="1257480"/>
            <a:ext cx="6032160" cy="3393720"/>
          </a:xfrm>
          <a:prstGeom prst="rect">
            <a:avLst/>
          </a:prstGeom>
          <a:ln w="0">
            <a:noFill/>
          </a:ln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120" cy="39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16"/>
          </p:nvPr>
        </p:nvSpPr>
        <p:spPr>
          <a:xfrm>
            <a:off x="4402080" y="9553680"/>
            <a:ext cx="3368160" cy="50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4A3C6A-131E-4054-92C5-37DE74F1294D}" type="slidenum"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97080"/>
            <a:ext cx="907128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ED7CE1-FBE3-4D12-8581-8C8A2470A67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97080"/>
            <a:ext cx="907128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6D3D3C-5D5A-450A-AFCD-B9BE11C3775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93000" y="1509480"/>
            <a:ext cx="428400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103360" y="1509480"/>
            <a:ext cx="428400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775A3E-E17E-4EF6-96BB-09C3F29A0C5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72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1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60000" y="2880360"/>
            <a:ext cx="4567680" cy="204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060"/>
              </a:spcBef>
              <a:buNone/>
            </a:pPr>
            <a:endParaRPr lang="en-US" sz="2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156280" y="2880360"/>
            <a:ext cx="4567680" cy="204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060"/>
              </a:spcBef>
              <a:buNone/>
            </a:pPr>
            <a:endParaRPr lang="en-US" sz="2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A50AC9D-FF98-477D-A1AD-686CFE4495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72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1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60000" y="2880360"/>
            <a:ext cx="9360720" cy="204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060"/>
              </a:spcBef>
              <a:buNone/>
            </a:pPr>
            <a:endParaRPr lang="en-US" sz="2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59A0749-6A9F-4D39-8498-52C3C2D831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72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1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360000" y="2880360"/>
            <a:ext cx="9360720" cy="204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D4AE25F-E021-4FE9-943D-96977180DA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flipH="1" flipV="1">
            <a:off x="0" y="4500360"/>
            <a:ext cx="1008072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72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100" b="0" u="none" strike="noStrike">
                <a:solidFill>
                  <a:srgbClr val="DD41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3100" b="0" u="none" strike="noStrike">
                <a:solidFill>
                  <a:srgbClr val="DD41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31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60000" y="2880360"/>
            <a:ext cx="9360720" cy="2049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9BDD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9BDD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9BDD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Times New Roman"/>
              </a:rPr>
              <a:t>Third Outline Level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Times New Roman"/>
              </a:rPr>
              <a:t>Sixth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360000" y="522036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3420000" y="5220360"/>
            <a:ext cx="324036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7380360" y="522036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0A9353A-9343-4F34-A793-909FCF2FE97A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  <p:sldLayoutId id="2147483654" r:id="rId3"/>
    <p:sldLayoutId id="2147483655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omments" Target="../comments/commen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394560"/>
            <a:ext cx="9071280" cy="60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Calculating Trade in Value</a:t>
            </a:r>
            <a:endParaRPr lang="en-US" sz="44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28600" indent="0" algn="ctr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By: Stacy Bowler &amp;</a:t>
            </a:r>
            <a:endParaRPr lang="en-US" sz="32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  <a:p>
            <a:pPr marL="228600" indent="0" algn="ctr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Derrik Miller</a:t>
            </a:r>
            <a:endParaRPr lang="en-US" sz="32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394560"/>
            <a:ext cx="9071280" cy="60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Business Problem</a:t>
            </a:r>
            <a:endParaRPr lang="en-US" sz="44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 dealership must consistently evaluate customer trade-ins. It needs to know what price range could be offered as a trade in based on many factors like model, odometer, condition, age of vehicle.</a:t>
            </a:r>
            <a:endParaRPr lang="en-US" sz="3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394560"/>
            <a:ext cx="9071280" cy="60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Executive Summary</a:t>
            </a:r>
            <a:endParaRPr lang="en-US" sz="44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p>
            <a:pPr marL="108000" indent="-2286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Vehicle age was the strongest continuous predictor of resale value. </a:t>
            </a:r>
            <a:endParaRPr lang="en-US" sz="3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572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Each additional year of age decreases vehicle value by approximately 13.8%</a:t>
            </a:r>
            <a:endParaRPr lang="en-US" sz="3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572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Every additional 10,000 miles reduces value by approximately 2.2%.</a:t>
            </a:r>
            <a:endParaRPr lang="en-US" sz="3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572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Vehicle condition increased value by approximately 2.0% for each one-point improvement in condition rating. </a:t>
            </a:r>
            <a:endParaRPr lang="en-US" sz="3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108000" indent="-2286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 type had the largest overall impact on value, with heavy-duty pickup trucks consistently commanding the highest prices. </a:t>
            </a:r>
            <a:endParaRPr lang="en-US" sz="3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108000" indent="-2286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These results suggest that dealerships should prioritize younger vehicles and high-demand truck models when acquiring inventory because those factors have the greatest influence on resale value.</a:t>
            </a:r>
            <a:endParaRPr lang="en-US" sz="3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Data Summary</a:t>
            </a:r>
            <a:endParaRPr lang="en-US" sz="44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693000" y="1509480"/>
            <a:ext cx="839556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spcBef>
                <a:spcPts val="1060"/>
              </a:spcBef>
              <a:buNone/>
            </a:pP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Data used was from the website Kaggle.com.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data was compiled from multiple dealerships. 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Nearly all used car sales data from 2015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Vehicle years range from 1996 to 2015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Contains sales data from 34 different states in the US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Main data points were vehicle age, odometer, condition, model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Cleaned data contained over 470,000 transactions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  <p:pic>
        <p:nvPicPr>
          <p:cNvPr id="45" name="Picture 9"/>
          <p:cNvPicPr/>
          <p:nvPr/>
        </p:nvPicPr>
        <p:blipFill>
          <a:blip r:embed="rId1"/>
          <a:stretch/>
        </p:blipFill>
        <p:spPr>
          <a:xfrm>
            <a:off x="6287400" y="1222200"/>
            <a:ext cx="3310200" cy="3336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394560"/>
            <a:ext cx="9071280" cy="60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Data Preparation</a:t>
            </a:r>
            <a:endParaRPr lang="en-US" sz="44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360" y="1365120"/>
            <a:ext cx="9071280" cy="367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 defTabSz="914400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Normalized make: ‘ford truck’, ‘ford tk’ changed to ‘ford’</a:t>
            </a:r>
            <a:endParaRPr lang="en-US" sz="1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Normalized body: model specifies bodies such as ‘cts coupe’ and ‘g37 convertible’ changed to ‘coupe’ and ‘convertible’</a:t>
            </a:r>
            <a:endParaRPr lang="en-US" sz="1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Dropped nulls, removed extra spacing/characters, and lowercased various columns for consistency</a:t>
            </a:r>
            <a:endParaRPr lang="en-US" sz="1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Normalized colors to consistent values and converted any values like ‘-’ to ‘unknown’</a:t>
            </a:r>
            <a:endParaRPr lang="en-US" sz="1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Calculated age of vehicle at time of sale by pulling the sale year out of the sell date and manufacture year of vehicle</a:t>
            </a:r>
            <a:endParaRPr lang="en-US" sz="1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Dropped redundant features for multicollinearity – make, body</a:t>
            </a:r>
            <a:endParaRPr lang="en-US" sz="1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Transmission and color were ignored due to insignificance</a:t>
            </a:r>
            <a:endParaRPr lang="en-US" sz="1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MMR (Manheim Market Report) was dropped as it was essentially an estimate of the value that we are modeling</a:t>
            </a:r>
            <a:endParaRPr lang="en-US" sz="1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108000" indent="-324000" algn="l" defTabSz="914400">
              <a:lnSpc>
                <a:spcPct val="4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After cleaning the data, our analysis and conclusions were based on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1700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observations from the state of Utah.</a:t>
            </a:r>
            <a:endParaRPr lang="en-US" sz="1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lang="en-US" sz="1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394560"/>
            <a:ext cx="9071280" cy="60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Price vs Vehicle Age</a:t>
            </a:r>
            <a:endParaRPr lang="en-US" sz="44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" name="Content Placeholder 4"/>
          <p:cNvPicPr/>
          <p:nvPr/>
        </p:nvPicPr>
        <p:blipFill>
          <a:blip r:embed="rId1"/>
          <a:stretch/>
        </p:blipFill>
        <p:spPr>
          <a:xfrm>
            <a:off x="401760" y="1424520"/>
            <a:ext cx="3659040" cy="328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Picture 8"/>
          <p:cNvPicPr/>
          <p:nvPr/>
        </p:nvPicPr>
        <p:blipFill>
          <a:blip r:embed="rId2"/>
          <a:stretch/>
        </p:blipFill>
        <p:spPr>
          <a:xfrm>
            <a:off x="4327920" y="1467000"/>
            <a:ext cx="5408280" cy="3244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394560"/>
            <a:ext cx="9071280" cy="60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Price vs Odometer</a:t>
            </a:r>
            <a:endParaRPr lang="en-US" sz="44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" name="Picture 8"/>
          <p:cNvPicPr/>
          <p:nvPr/>
        </p:nvPicPr>
        <p:blipFill>
          <a:blip r:embed="rId1"/>
          <a:stretch/>
        </p:blipFill>
        <p:spPr>
          <a:xfrm>
            <a:off x="998640" y="1059480"/>
            <a:ext cx="7511760" cy="450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94560"/>
            <a:ext cx="9071280" cy="60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Non-Model Predictors</a:t>
            </a:r>
            <a:endParaRPr lang="en-US" sz="44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" name="Picture 6"/>
          <p:cNvPicPr/>
          <p:nvPr/>
        </p:nvPicPr>
        <p:blipFill>
          <a:blip r:embed="rId1"/>
          <a:stretch/>
        </p:blipFill>
        <p:spPr>
          <a:xfrm>
            <a:off x="754200" y="1406520"/>
            <a:ext cx="8572320" cy="285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394560"/>
            <a:ext cx="9071280" cy="60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Other Models &lt; 10</a:t>
            </a:r>
            <a:endParaRPr lang="en-US" sz="44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" name="Picture 6"/>
          <p:cNvPicPr/>
          <p:nvPr/>
        </p:nvPicPr>
        <p:blipFill>
          <a:blip r:embed="rId1"/>
          <a:stretch/>
        </p:blipFill>
        <p:spPr>
          <a:xfrm>
            <a:off x="132840" y="977760"/>
            <a:ext cx="10080360" cy="4479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394560"/>
            <a:ext cx="9071280" cy="60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 Predictors</a:t>
            </a:r>
            <a:endParaRPr lang="en-US" sz="44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" name="Picture 4"/>
          <p:cNvPicPr/>
          <p:nvPr/>
        </p:nvPicPr>
        <p:blipFill>
          <a:blip r:embed="rId1"/>
          <a:stretch/>
        </p:blipFill>
        <p:spPr>
          <a:xfrm>
            <a:off x="771840" y="930600"/>
            <a:ext cx="8903160" cy="496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394560"/>
            <a:ext cx="9071280" cy="60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Conclusion</a:t>
            </a:r>
            <a:endParaRPr lang="en-US" sz="44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504000" y="1066680"/>
            <a:ext cx="9071280" cy="41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Each additional 10,000 miles is associated with an average 2.2% decrease in selling price, holding all other variables constant.</a:t>
            </a:r>
            <a:endParaRPr lang="en-US" sz="18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Each additional year of vehicle age is associated with an average 13.8% decrease in selling price, holding all other variables constant.</a:t>
            </a:r>
            <a:endParaRPr lang="en-US" sz="18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 one-point increase in vehicle condition is associated with approximately a 2.0% increase in selling price, holding all other variables constant.</a:t>
            </a:r>
            <a:endParaRPr lang="en-US" sz="18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Among the continuous vehicle characteristics (odometer, condition) analyzed, vehicle age has the strongest relationship with selling price</a:t>
            </a:r>
            <a:endParaRPr lang="en-US" sz="18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Vehicle model captures differences in vehicle type, original MSRP, market demand, towing capability, luxury features, and brand perception that are not explained by age, mileage, or condition alone.</a:t>
            </a:r>
            <a:endParaRPr lang="en-US" sz="18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Heavy-duty pickup trucks consistently exhibited the highest estimated market values after controlling for age, mileage, condition, and transmission type.</a:t>
            </a:r>
            <a:endParaRPr lang="en-US" sz="18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91600"/>
            <a:ext cx="9000720" cy="85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Conclusion</a:t>
            </a:r>
            <a:endParaRPr lang="en-US" sz="44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360000" y="1371600"/>
            <a:ext cx="9360720" cy="355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28600" indent="0" algn="l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Based on the model, we recommend the following: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Don’t sit on your inventory for too long for newer models. They depreciate a lot faster than vehicles 10+ years old.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Consider what it would take to raise the condition a few points and if it would be worth any monetary investment.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Heavy duty pickup trucks are typically safe investments. They hold onto their value far better than other categories.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Vehicle model captures differences in vehicle type, original MSRP, market demand, towing capability, luxury features, and brand perception that are not explained by age, mileage, or condition alone.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394560"/>
            <a:ext cx="9071280" cy="60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Next Steps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endParaRPr lang="en-US" sz="44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504000" y="2216160"/>
            <a:ext cx="9071280" cy="150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Investigate adding original MSRP data for each vehicle model</a:t>
            </a:r>
            <a:endParaRPr lang="en-US" sz="32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394560"/>
            <a:ext cx="9071280" cy="60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Questions?</a:t>
            </a:r>
            <a:endParaRPr lang="en-US" sz="44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394560"/>
            <a:ext cx="9071280" cy="60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Appendix</a:t>
            </a:r>
            <a:endParaRPr lang="en-US" sz="44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All Data Fields</a:t>
            </a:r>
            <a:endParaRPr lang="en-US" sz="44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93000" y="1509480"/>
            <a:ext cx="428400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Year - The manufacturing year of the vehicle.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Make - The brand or manufacturer of the vehicle.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 - The specific model of the vehicle.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Trim - Additional designation for the vehicle model.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Body - The body type of the vehicle (e.g., SUV, Sedan).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Transmission - The type of transmission in the vehicle (e.g., automatic).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Vin - Vehicle Identification Number, a unique code for each vehicle.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State - The state where the vehicle is registered.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103360" y="1509480"/>
            <a:ext cx="428400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marL="432000" indent="-3240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Condition - Condition of the vehicle, possibly rated on a scale of 1 - 50.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Odometer - The mileage or distance traveled by the vehicle.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Color - Exterior color of the vehicle.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Interior - Interior color of the vehicle.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Seller - The entity selling the vehicle.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MMR - Manheim Market Report, possibly indicating the estimated market value of the vehicle.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Selling Price - The price at which the vehicle was sold.</a:t>
            </a: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indent="0" algn="l" defTabSz="914400">
              <a:lnSpc>
                <a:spcPct val="120000"/>
              </a:lnSpc>
              <a:spcBef>
                <a:spcPts val="1417"/>
              </a:spcBef>
              <a:buNone/>
            </a:pPr>
            <a:endParaRPr lang="en-US" sz="14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2071</TotalTime>
  <Application>LibreOffice/26.2.3.2$Linux_X86_64 LibreOffice_project/620$Build-2</Application>
  <AppVersion>15.0000</AppVersion>
  <Words>719</Words>
  <Paragraphs>58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2026-06-08T20:57:34Z</dcterms:created>
  <dc:creator/>
  <dc:description/>
  <dc:language>en-US</dc:language>
  <cp:lastModifiedBy/>
  <dcterms:modified xsi:type="dcterms:W3CDTF">2026-06-13T20:38:13Z</dcterms:modified>
  <cp:revision>65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Custom</vt:lpwstr>
  </property>
  <property fmtid="{D5CDD505-2E9C-101B-9397-08002B2CF9AE}" pid="4" name="Slides">
    <vt:i4>15</vt:i4>
  </property>
</Properties>
</file>