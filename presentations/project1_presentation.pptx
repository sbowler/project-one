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4" r:id="rId13"/>
    <p:sldId id="260" r:id="rId14"/>
    <p:sldId id="273" r:id="rId15"/>
    <p:sldId id="264" r:id="rId16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13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1BD28F-1D8A-46C6-A8C9-40315457D0DD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FD2402-9CBB-449D-AE85-85266ED5F4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53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FD2402-9CBB-449D-AE85-85266ED5F47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669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728DDBA-A667-43B9-884B-6CE061A5178A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76414E5-9650-4418-998D-24BF0B5576F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35B5-2182-0B38-05DC-0415895F7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23C9FF-878D-CE12-9A00-3F75151C14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043" y="1509521"/>
            <a:ext cx="4284266" cy="3597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3167D7-83DB-6EB8-B848-0D25C1F323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03316" y="1509521"/>
            <a:ext cx="4284266" cy="3597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CE72AC-77FC-946C-1477-E8A25B059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2144D-7780-48FB-8089-4A94ABE796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27281-2B59-4EAF-EEA2-A78937324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23A5B9-9641-A710-0891-DFFFC427C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BCCF-61B3-4AEB-8CCB-FDD87955C4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46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601CC7C-ABAE-49F7-A8C4-BB0D2AE355C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Calculating Trade in Value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By: Stacy Bowler &amp;</a:t>
            </a:r>
          </a:p>
          <a:p>
            <a:pPr indent="0" algn="ctr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Derrik Miller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Business Problem</a:t>
            </a: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457200" y="1371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dirty="0"/>
              <a:t>A dealership must consistently evaluate customer trade-ins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. It needs to know what price range could be offered as a trade in based on many factors like model, odometer, condition, age of vehicle.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Executive Summary</a:t>
            </a: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47500" lnSpcReduction="20000"/>
          </a:bodyPr>
          <a:lstStyle/>
          <a:p>
            <a:pPr marL="108000" algn="l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</a:pPr>
            <a:r>
              <a:rPr lang="en-US" sz="3200" dirty="0"/>
              <a:t>Vehicle age was the strongest continuous predictor of resale value. The model estimates that each additional year of age decreases vehicle value by approximately 13.8%, while every additional 10,000 miles reduces value by approximately 2.2%. Vehicle condition had a smaller but statistically significant effect, increasing value by approximately 2.0% for each one-point improvement in condition rating. </a:t>
            </a:r>
          </a:p>
          <a:p>
            <a:pPr marL="108000" algn="l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</a:pPr>
            <a:r>
              <a:rPr lang="en-US" sz="3200" dirty="0"/>
              <a:t>Model type had the largest overall impact on value, with heavy-duty pickup trucks consistently commanding the highest prices. </a:t>
            </a:r>
          </a:p>
          <a:p>
            <a:pPr marL="108000" algn="l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</a:pPr>
            <a:r>
              <a:rPr lang="en-US" sz="3200" dirty="0"/>
              <a:t>These results suggest that dealerships should prioritize younger vehicles and high-demand truck models when acquiring inventory because those factors have the greatest influence on resale value.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18E7-81CE-2578-811C-4009B8CB2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8FF21-E9A6-BAA7-68A5-6E0CC68D1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E699B-090E-2C59-BA6F-EC1185BA47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043" y="1509521"/>
            <a:ext cx="8395834" cy="3597912"/>
          </a:xfrm>
        </p:spPr>
        <p:txBody>
          <a:bodyPr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Nearly all used car sales data from 2015</a:t>
            </a: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Vehicle years range from 1996 to 2015</a:t>
            </a: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Contains sales data from 34 different states in the US</a:t>
            </a: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Main data points were vehicle age, odometer, condition, model</a:t>
            </a: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Cleaned data contained over 470,000 transactions</a:t>
            </a: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4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7CDF7C-31CE-49A7-96E7-5640CC07A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310" y="1222029"/>
            <a:ext cx="3310569" cy="3337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190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7FE60-E518-FC45-C2CE-3F915770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>
            <a:extLst>
              <a:ext uri="{FF2B5EF4-FFF2-40B4-BE49-F238E27FC236}">
                <a16:creationId xmlns:a16="http://schemas.microsoft.com/office/drawing/2014/main" id="{151847F1-B534-7474-B750-84E121455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Data Preparation</a:t>
            </a:r>
          </a:p>
        </p:txBody>
      </p:sp>
      <p:sp>
        <p:nvSpPr>
          <p:cNvPr id="18" name="PlaceHolder 2">
            <a:extLst>
              <a:ext uri="{FF2B5EF4-FFF2-40B4-BE49-F238E27FC236}">
                <a16:creationId xmlns:a16="http://schemas.microsoft.com/office/drawing/2014/main" id="{976CED2D-1BBE-EAE8-BB21-A20F4379FA1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492" y="1365114"/>
            <a:ext cx="9071640" cy="367705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 algn="l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dirty="0"/>
              <a:t>Normalized make: ‘ford truck’, ‘ford </a:t>
            </a:r>
            <a:r>
              <a:rPr lang="en-US" sz="1200" dirty="0" err="1"/>
              <a:t>tk</a:t>
            </a:r>
            <a:r>
              <a:rPr lang="en-US" sz="1200" dirty="0"/>
              <a:t>’ changed to ‘ford’</a:t>
            </a:r>
          </a:p>
          <a:p>
            <a:pPr marL="432000" indent="-324000" algn="l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Normalized body</a:t>
            </a:r>
            <a:r>
              <a:rPr lang="en-US" sz="1200" dirty="0"/>
              <a:t>: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model specifies bodies such as ‘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cts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coupe’ and ‘g37 convertible’ changed to ‘coupe’ and ‘convertible’</a:t>
            </a:r>
          </a:p>
          <a:p>
            <a:pPr marL="432000" indent="-324000" algn="l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dirty="0"/>
              <a:t>Dropped nulls, removed extra spacing/characters, and lowercased various columns for consistency</a:t>
            </a:r>
          </a:p>
          <a:p>
            <a:pPr marL="432000" indent="-324000" algn="l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Normalized colors to consistent values and converted any values like ‘-’ to ‘unknown’</a:t>
            </a:r>
          </a:p>
          <a:p>
            <a:pPr marL="432000" indent="-324000" algn="l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dirty="0"/>
              <a:t>Calculated age of vehicle at time of sale by pulling 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the sale year out of the sell date and manufacture year of vehicle</a:t>
            </a:r>
          </a:p>
          <a:p>
            <a:pPr marL="432000" indent="-324000" algn="l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dirty="0"/>
              <a:t>Dropped redundant features for multicollinearity – make, body</a:t>
            </a:r>
          </a:p>
          <a:p>
            <a:pPr marL="432000" indent="-324000" algn="l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Transmission and color were ignored due to insignificance</a:t>
            </a:r>
          </a:p>
          <a:p>
            <a:pPr marL="432000" indent="-324000" algn="l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dirty="0"/>
              <a:t>MMR (Manheim Market Report) was dropped as it was essentially an estimate of the value that we are modeling</a:t>
            </a:r>
          </a:p>
          <a:p>
            <a:pPr marL="1080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After cleaning the data, our analysi</a:t>
            </a:r>
            <a:r>
              <a:rPr lang="en-US" sz="1200" dirty="0"/>
              <a:t>s and conclusions were based on </a:t>
            </a:r>
            <a:r>
              <a:rPr lang="en-US" sz="1200" b="1" dirty="0"/>
              <a:t>1700</a:t>
            </a:r>
            <a:r>
              <a:rPr lang="en-US" sz="1200" dirty="0"/>
              <a:t> observations from the state of Utah.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4115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4A316-4107-DB96-BC5D-50A1FB01B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Price vs Vehicle Age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120E31-61AA-AFEE-9873-6271EDCF79C8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401721" y="1424426"/>
            <a:ext cx="3659494" cy="3287713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69BFD34-5907-7D51-C130-D7FADAED61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054" y="1467019"/>
            <a:ext cx="5408534" cy="3245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894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2E8F5-557B-9DAD-9794-688C37F4A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Price vs Odometer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0B1FB4-1724-8B8E-89F5-31316386B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706" y="1059471"/>
            <a:ext cx="7512197" cy="4507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329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8E8F1-1E21-5630-0A5C-E46B260F8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Non-Model Predictors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B21872-1F7D-E5B5-3885-7185B5F60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62" y="1406525"/>
            <a:ext cx="8572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901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BF4EB-D514-FE89-798A-50AF4FFB7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Other Models &lt; 10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E1B0D3-0391-881D-7816-4705B9C6D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57" y="1100975"/>
            <a:ext cx="10080625" cy="448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480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46956-4994-0E58-6059-98C7E9C12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Model Predictors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C72709-EB0D-6591-7FA3-050F220B6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27" y="930612"/>
            <a:ext cx="8903579" cy="496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27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B1418-DEB5-092B-5E26-EF74ADD07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A334C2-181E-EB77-C9BB-80A3EAD858BE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504000" y="1066806"/>
            <a:ext cx="9071640" cy="4138569"/>
          </a:xfrm>
        </p:spPr>
        <p:txBody>
          <a:bodyPr/>
          <a:lstStyle/>
          <a:p>
            <a:r>
              <a:rPr lang="en-US" sz="1800" dirty="0"/>
              <a:t>Each additional 10,000 miles is associated with an average 2.2% decrease in selling price, holding all other variables constant.</a:t>
            </a:r>
          </a:p>
          <a:p>
            <a:r>
              <a:rPr lang="en-US" sz="1800" dirty="0"/>
              <a:t>Each additional year of vehicle age is associated with an average 13.8% decrease in selling price, holding all other variables constant.</a:t>
            </a:r>
          </a:p>
          <a:p>
            <a:r>
              <a:rPr lang="en-US" sz="1800" dirty="0"/>
              <a:t>A one-point increase in vehicle condition is associated with approximately a 2.0% increase in selling price, holding all other variables constant.</a:t>
            </a:r>
          </a:p>
          <a:p>
            <a:r>
              <a:rPr lang="en-US" sz="1800" dirty="0"/>
              <a:t>Among the continuous vehicle characteristics (odometer, condition) analyzed, vehicle age has the strongest relationship with selling price</a:t>
            </a:r>
          </a:p>
          <a:p>
            <a:r>
              <a:rPr lang="en-US" sz="1800" dirty="0"/>
              <a:t>Vehicle model captures differences in vehicle type, original MSRP, market demand, towing capability, luxury features, and brand perception that are not explained by age, mileage, or condition alone.</a:t>
            </a:r>
          </a:p>
          <a:p>
            <a:r>
              <a:rPr lang="en-US" sz="1800" dirty="0"/>
              <a:t>Heavy-duty pickup trucks consistently exhibited the highest estimated market values after controlling for age, mileage, condition, and transmission type.</a:t>
            </a:r>
          </a:p>
        </p:txBody>
      </p:sp>
    </p:spTree>
    <p:extLst>
      <p:ext uri="{BB962C8B-B14F-4D97-AF65-F5344CB8AC3E}">
        <p14:creationId xmlns:p14="http://schemas.microsoft.com/office/powerpoint/2010/main" val="3490596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5910D-B0BA-2CC1-78FF-9008B6F06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Next Steps	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3EFE75-5DE8-C198-E6C4-7F9EC8182E8C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504000" y="2216155"/>
            <a:ext cx="9071640" cy="1509131"/>
          </a:xfrm>
        </p:spPr>
        <p:txBody>
          <a:bodyPr/>
          <a:lstStyle/>
          <a:p>
            <a:r>
              <a:rPr lang="en-US" dirty="0"/>
              <a:t>Investigate adding original MSRP data for each vehicle model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751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Questions?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1FDA1-8699-6F97-6F6C-D3E0929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338983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4C321-03CF-B08E-A31A-ECB533EA3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Data Fields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541D5-4A5B-55B8-1379-EB43DF2A13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Year - The manufacturing year of the vehicle.</a:t>
            </a: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Make - The brand or manufacturer of the vehicle.</a:t>
            </a: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Model - The specific model of the vehicle.</a:t>
            </a: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Trim - Additional designation for the vehicle model.</a:t>
            </a: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Body - The body type of the vehicle (e.g., SUV, Sedan).</a:t>
            </a: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Transmission - The type of transmission in the vehicle (e.g., automatic).</a:t>
            </a: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Vin - Vehicle Identification Number, a unique code for each vehicle.</a:t>
            </a: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State - The state where the vehicle is registered.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2BF395-DA7A-D826-005F-94865F5B2CC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pPr marL="432000" indent="-3240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Condition - Condition of the vehicle, possibly rated on a scale of 1 - 50.</a:t>
            </a:r>
          </a:p>
          <a:p>
            <a:pPr marL="432000" indent="-3240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Odometer - The mileage or distance traveled by the vehicle.</a:t>
            </a:r>
          </a:p>
          <a:p>
            <a:pPr marL="432000" indent="-3240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Color - Exterior color of the vehicle.</a:t>
            </a:r>
          </a:p>
          <a:p>
            <a:pPr marL="432000" indent="-3240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Interior - Interior color of the vehicle.</a:t>
            </a:r>
          </a:p>
          <a:p>
            <a:pPr marL="432000" indent="-3240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Seller - The entity selling the vehicle.</a:t>
            </a:r>
          </a:p>
          <a:p>
            <a:pPr marL="432000" indent="-3240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MMR - Manheim Market Report, possibly indicating the estimated market value of the vehicle.</a:t>
            </a:r>
          </a:p>
          <a:p>
            <a:pPr marL="432000" indent="-3240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dirty="0"/>
              <a:t>Selling Price - The price at which the vehicle was sold.</a:t>
            </a:r>
          </a:p>
          <a:p>
            <a:pPr>
              <a:lnSpc>
                <a:spcPct val="120000"/>
              </a:lnSpc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993276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2065</TotalTime>
  <Words>719</Words>
  <Application>Microsoft Office PowerPoint</Application>
  <PresentationFormat>Custom</PresentationFormat>
  <Paragraphs>58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Symbol</vt:lpstr>
      <vt:lpstr>Times New Roman</vt:lpstr>
      <vt:lpstr>Wingdings</vt:lpstr>
      <vt:lpstr>Office</vt:lpstr>
      <vt:lpstr>Calculating Trade in Value</vt:lpstr>
      <vt:lpstr>Business Problem</vt:lpstr>
      <vt:lpstr>Executive Summary</vt:lpstr>
      <vt:lpstr>Data Summary</vt:lpstr>
      <vt:lpstr>Data Preparation</vt:lpstr>
      <vt:lpstr>Price vs Vehicle Age</vt:lpstr>
      <vt:lpstr>Price vs Odometer</vt:lpstr>
      <vt:lpstr>Non-Model Predictors</vt:lpstr>
      <vt:lpstr>Other Models &lt; 10</vt:lpstr>
      <vt:lpstr>Model Predictors</vt:lpstr>
      <vt:lpstr>Conclusion</vt:lpstr>
      <vt:lpstr>Next Steps </vt:lpstr>
      <vt:lpstr>Questions?</vt:lpstr>
      <vt:lpstr>Appendix</vt:lpstr>
      <vt:lpstr>All Data Fields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Stacy Bowler</cp:lastModifiedBy>
  <cp:revision>62</cp:revision>
  <dcterms:created xsi:type="dcterms:W3CDTF">2026-06-08T20:57:34Z</dcterms:created>
  <dcterms:modified xsi:type="dcterms:W3CDTF">2026-06-13T05:45:16Z</dcterms:modified>
  <dc:language>en-US</dc:language>
</cp:coreProperties>
</file>