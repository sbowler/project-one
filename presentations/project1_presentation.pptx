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omments/comment1.xml" ContentType="application/vnd.openxmlformats-officedocument.presentationml.comment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2" r:id="rId2"/>
  </p:sldMasterIdLst>
  <p:notesMasterIdLst>
    <p:notesMasterId r:id="rId2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2" r:id="rId13"/>
    <p:sldId id="273" r:id="rId14"/>
    <p:sldId id="274" r:id="rId15"/>
    <p:sldId id="267" r:id="rId16"/>
    <p:sldId id="268" r:id="rId17"/>
    <p:sldId id="269" r:id="rId18"/>
    <p:sldId id="270" r:id="rId19"/>
    <p:sldId id="271" r:id="rId20"/>
  </p:sldIdLst>
  <p:sldSz cx="10080625" cy="567055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43" autoAdjust="0"/>
    <p:restoredTop sz="94660"/>
  </p:normalViewPr>
  <p:slideViewPr>
    <p:cSldViewPr snapToGrid="0">
      <p:cViewPr varScale="1">
        <p:scale>
          <a:sx n="144" d="100"/>
          <a:sy n="144" d="100"/>
        </p:scale>
        <p:origin x="75" y="12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ableStyles" Target="tableStyles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viewProps" Target="view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6-06-13T19:08:30" idx="1">
    <p:pos x="0" y="0"/>
    <p:text>The model estimates that each additional year of age decreases vehicle value by approximately 13.8%, while every additional 10,000 miles reduces value by approximately 2.2%. Vehicle condition had a smaller but statistically significant effect, increasing value by approximately 2.0% for each one-point improvement in condition rating. 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740160" y="846360"/>
            <a:ext cx="6292080" cy="323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rPr>
              <a:t>Click to move the slide</a:t>
            </a: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740160" y="4402440"/>
            <a:ext cx="6292080" cy="4741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 algn="l">
              <a:buNone/>
            </a:pPr>
            <a:r>
              <a:rPr lang="en-US" sz="2760" b="0" u="none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Times New Roman"/>
              </a:rPr>
              <a:t>Click to edit the notes format</a:t>
            </a:r>
          </a:p>
        </p:txBody>
      </p:sp>
      <p:sp>
        <p:nvSpPr>
          <p:cNvPr id="3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3"/>
          </p:nvPr>
        </p:nvSpPr>
        <p:spPr>
          <a:xfrm>
            <a:off x="439884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5"/>
          </p:nvPr>
        </p:nvSpPr>
        <p:spPr>
          <a:xfrm>
            <a:off x="439884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10A6092-1556-4449-B3DC-2C9E6481C09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ln w="0">
            <a:noFill/>
          </a:ln>
        </p:spPr>
      </p:sp>
      <p:sp>
        <p:nvSpPr>
          <p:cNvPr id="71" name="PlaceHolder 2"/>
          <p:cNvSpPr>
            <a:spLocks noGrp="1"/>
          </p:cNvSpPr>
          <p:nvPr>
            <p:ph type="body"/>
          </p:nvPr>
        </p:nvSpPr>
        <p:spPr>
          <a:xfrm>
            <a:off x="777960" y="4840200"/>
            <a:ext cx="6216120" cy="396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 type="sldNum" idx="16"/>
          </p:nvPr>
        </p:nvSpPr>
        <p:spPr>
          <a:xfrm>
            <a:off x="4402080" y="9553680"/>
            <a:ext cx="3368160" cy="504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84A3C6A-131E-4054-92C5-37DE74F1294D}" type="slidenum"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6</a:t>
            </a:fld>
            <a:endParaRPr lang="en-US" sz="12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397080"/>
            <a:ext cx="90712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lnSpcReduction="9999"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4572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9144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3716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18288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286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27432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FED7CE1-FBE3-4D12-8581-8C8A2470A67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97080"/>
            <a:ext cx="90712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86D3D3C-5D5A-450A-AFCD-B9BE11C3775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9300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body"/>
          </p:nvPr>
        </p:nvSpPr>
        <p:spPr>
          <a:xfrm>
            <a:off x="510336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Click to edit Master text styles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Second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Third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Fourth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Fifth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7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8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7" name="PlaceHolder 6"/>
          <p:cNvSpPr>
            <a:spLocks noGrp="1"/>
          </p:cNvSpPr>
          <p:nvPr>
            <p:ph type="sldNum" idx="9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775A3E-E17E-4EF6-96BB-09C3F29A0C5E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360000" y="2880360"/>
            <a:ext cx="456768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5156280" y="2880360"/>
            <a:ext cx="456768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A50AC9D-FF98-477D-A1AD-686CFE449508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 algn="l">
              <a:spcBef>
                <a:spcPts val="1060"/>
              </a:spcBef>
              <a:buNone/>
            </a:pPr>
            <a:endParaRPr lang="en-US" sz="2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59A0749-6A9F-4D39-8498-52C3C2D83167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1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ubTitle"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D4AE25F-E021-4FE9-943D-96977180DAC6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lowchart: Document 17"/>
          <p:cNvSpPr/>
          <p:nvPr/>
        </p:nvSpPr>
        <p:spPr>
          <a:xfrm flipH="1" flipV="1">
            <a:off x="0" y="4500360"/>
            <a:ext cx="10080720" cy="11700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0">
            <a:noFill/>
          </a:ln>
          <a:effectLst>
            <a:outerShdw dist="10800" dir="5400000" rotWithShape="0">
              <a:srgbClr val="009BDD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9000720" cy="10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3100" b="0" u="none" strike="noStrike">
                <a:solidFill>
                  <a:srgbClr val="DD4100"/>
                </a:solidFill>
                <a:effectLst/>
                <a:uFillTx/>
                <a:latin typeface="Times New Roman"/>
              </a:rPr>
              <a:t>Click to edit the title text format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360000" y="2880360"/>
            <a:ext cx="9360720" cy="204912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0" tIns="0" rIns="0" bIns="0" anchor="t">
            <a:spAutoFit/>
          </a:bodyPr>
          <a:lstStyle>
            <a:lvl1pPr algn="l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1pPr>
            <a:lvl2pPr lvl="1" algn="l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21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2pPr>
            <a:lvl3pPr lvl="2" algn="l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3pPr>
            <a:lvl4pPr lvl="3" algn="l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4pPr>
            <a:lvl5pPr lvl="4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5pPr>
            <a:lvl6pPr lvl="5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6pPr>
            <a:lvl7pPr lvl="6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  <a:def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defRPr>
            </a:lvl7pPr>
          </a:lstStyle>
          <a:p>
            <a:pPr marL="432000" indent="-324000" algn="l"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Click to edit the outline text format</a:t>
            </a:r>
          </a:p>
          <a:p>
            <a:pPr marL="864000" lvl="1" indent="-324000" algn="l"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Second Outline Level</a:t>
            </a:r>
          </a:p>
          <a:p>
            <a:pPr marL="1296000" lvl="2" indent="-288000" algn="l"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Third Outline Level</a:t>
            </a:r>
          </a:p>
          <a:p>
            <a:pPr marL="1728000" lvl="3" indent="-216000" algn="l"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Fourth Outline Level</a:t>
            </a:r>
          </a:p>
          <a:p>
            <a:pPr marL="2160000" lvl="4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Fifth Outline Level</a:t>
            </a:r>
          </a:p>
          <a:p>
            <a:pPr marL="2592000" lvl="5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Sixth Outline Level</a:t>
            </a:r>
          </a:p>
          <a:p>
            <a:pPr marL="3024000" lvl="6" indent="-216000" algn="l"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US" sz="1500" b="0" u="none" strike="noStrike">
                <a:solidFill>
                  <a:srgbClr val="009BDD"/>
                </a:solidFill>
                <a:effectLst/>
                <a:uFillTx/>
                <a:latin typeface="Times New Roman"/>
              </a:rPr>
              <a:t>Seventh Outline Level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dt" idx="10"/>
          </p:nvPr>
        </p:nvSpPr>
        <p:spPr>
          <a:xfrm>
            <a:off x="360000" y="522036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ftr" idx="11"/>
          </p:nvPr>
        </p:nvSpPr>
        <p:spPr>
          <a:xfrm>
            <a:off x="3420000" y="5220360"/>
            <a:ext cx="324036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sldNum" idx="12"/>
          </p:nvPr>
        </p:nvSpPr>
        <p:spPr>
          <a:xfrm>
            <a:off x="7380360" y="522036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0A9353A-9343-4F34-A793-909FCF2FE97A}" type="slidenum">
              <a:rPr lang="en-US" sz="140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Calculating Trade in Value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ubTitle"/>
          </p:nvPr>
        </p:nvSpPr>
        <p:spPr>
          <a:xfrm>
            <a:off x="504000" y="1326240"/>
            <a:ext cx="9071280" cy="328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marL="228600" indent="0" algn="ctr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By: Stacy Bowler &amp;</a:t>
            </a: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marL="228600" indent="0" algn="ctr" defTabSz="914400">
              <a:lnSpc>
                <a:spcPct val="90000"/>
              </a:lnSpc>
              <a:spcBef>
                <a:spcPts val="1417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Derrik Miller</a:t>
            </a:r>
            <a:endParaRPr lang="en-US" sz="3200" b="0" u="none" strike="noStrike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Business Problem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457200" y="1371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 dealership must consistently evaluate customer trade-ins. It needs to know what price range could be offered as a trade in based on many factors like model, odometer, condition, age of vehicle.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Executive Summary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280" cy="328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47500" lnSpcReduction="20000"/>
          </a:bodyPr>
          <a:lstStyle/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age was the strongest continuous predictor of resale value. 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Each additional year of age decreases vehicle value by approximately 13.8%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Every additional 10,000 miles reduces value by approximately 2.2%.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57200" lvl="1" indent="-324000" algn="l">
              <a:spcBef>
                <a:spcPts val="85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condition increased value by approximately 2.0% for each one-point improvement in condition rating. 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type had the largest overall impact on value, with heavy-duty pickup trucks consistently commanding the highest prices. 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108000" indent="-2286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These results suggest that dealerships should prioritize younger vehicles and high-demand truck models when acquiring inventory because those factors have the greatest influence on resale value.</a:t>
            </a:r>
            <a:endParaRPr lang="en-US" sz="32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Summary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/>
          </p:nvPr>
        </p:nvSpPr>
        <p:spPr>
          <a:xfrm>
            <a:off x="693000" y="1509480"/>
            <a:ext cx="839556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0" algn="l">
              <a:spcBef>
                <a:spcPts val="1060"/>
              </a:spcBef>
              <a:buNone/>
            </a:pP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>
              <a:spcBef>
                <a:spcPts val="1060"/>
              </a:spcBef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used was from the website Kaggle.com.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spcBef>
                <a:spcPts val="850"/>
              </a:spcBef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data was compiled from multiple dealerships. 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Nearly all used car sales data from 2015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years range from 1996 to 2015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Contains sales data from 34 different states in the US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Main data points were vehicle age, odometer, condition, model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chemeClr val="tx1"/>
              </a:buClr>
              <a:buSzPct val="45000"/>
              <a:buFont typeface="Wingdings" charset="2"/>
              <a:buChar char=""/>
            </a:pPr>
            <a:r>
              <a:rPr lang="en-US" sz="1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Cleaned data contained over 470,000 transactions</a:t>
            </a: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en-US" sz="14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pic>
        <p:nvPicPr>
          <p:cNvPr id="45" name="Picture 9"/>
          <p:cNvPicPr/>
          <p:nvPr/>
        </p:nvPicPr>
        <p:blipFill>
          <a:blip r:embed="rId2"/>
          <a:stretch/>
        </p:blipFill>
        <p:spPr>
          <a:xfrm>
            <a:off x="6287400" y="1222200"/>
            <a:ext cx="3310200" cy="333648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Data Preparation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504360" y="1365120"/>
            <a:ext cx="9071280" cy="3676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make: ‘ford truck’, ‘ford 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tk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’ changed to ‘ford’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body: model specifies bodies such as ‘</a:t>
            </a:r>
            <a:r>
              <a:rPr lang="en-US" sz="1200" b="0" u="none" strike="noStrike" dirty="0" err="1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cts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coupe’ and ‘g37 convertible’ changed to ‘coupe’ and ‘convertible’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Dropped nulls, removed extra spacing/characters, and lowercased various columns for consistency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Normalized colors to consistent values and converted any values like ‘-’ to ‘unknown’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Calculated age of vehicle at time of sale by pulling the sale year out of the sell date and manufacture year of vehicle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Dropped redundant features for multicollinearity – make, body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Transmission and color were ignored due to insignificance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MMR (Manheim Market Report) was dropped as it was essentially an estimate of the value that we are modeling</a:t>
            </a:r>
            <a:endParaRPr lang="en-US" sz="1200" dirty="0">
              <a:solidFill>
                <a:srgbClr val="000000"/>
              </a:solidFill>
              <a:latin typeface="Arial"/>
              <a:ea typeface="DejaVu Sans"/>
            </a:endParaRPr>
          </a:p>
          <a:p>
            <a:pPr marL="432000" indent="-324000" algn="l" defTabSz="914400">
              <a:lnSpc>
                <a:spcPct val="4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After cleaning the data, our analysis and conclusions were based on </a:t>
            </a:r>
            <a:r>
              <a:rPr lang="en-US" sz="1200" b="1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1700</a:t>
            </a:r>
            <a:r>
              <a: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observations from the state of Utah.</a:t>
            </a: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lang="en-US" sz="1200" b="0" u="none" strike="noStrike" dirty="0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Price vs Vehicle Age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9" name="Content Placeholder 4"/>
          <p:cNvPicPr/>
          <p:nvPr/>
        </p:nvPicPr>
        <p:blipFill>
          <a:blip r:embed="rId3"/>
          <a:stretch/>
        </p:blipFill>
        <p:spPr>
          <a:xfrm>
            <a:off x="401760" y="1424520"/>
            <a:ext cx="3659040" cy="3287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3DF680F-E5F3-B34A-33AD-DCF13C9759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101" y="1424520"/>
            <a:ext cx="5479200" cy="3287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Price vs Odometer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2A61F5-6960-C4F5-5640-C4CE42340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778" y="1251510"/>
            <a:ext cx="7365067" cy="4419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Non-Model Predictors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4" name="Picture 6"/>
          <p:cNvPicPr/>
          <p:nvPr/>
        </p:nvPicPr>
        <p:blipFill>
          <a:blip r:embed="rId2"/>
          <a:stretch/>
        </p:blipFill>
        <p:spPr>
          <a:xfrm>
            <a:off x="754200" y="1406520"/>
            <a:ext cx="8572320" cy="2857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Other Models &lt; 10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A51E16-A419-5A0A-6CAD-3F5C069155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24" y="1003680"/>
            <a:ext cx="9555832" cy="466687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4453011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Predictors</a:t>
            </a:r>
            <a:endParaRPr lang="en-US" sz="4400" b="0" u="none" strike="noStrike" dirty="0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170AFF-8640-7F04-236E-6E071DD811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312" y="0"/>
            <a:ext cx="5040313" cy="56705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A342C-93DB-9052-E162-1773898CB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52" y="519471"/>
            <a:ext cx="9000720" cy="443198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Ram 1500 </a:t>
            </a:r>
            <a:r>
              <a:rPr lang="en-US" dirty="0">
                <a:solidFill>
                  <a:schemeClr val="tx1"/>
                </a:solidFill>
              </a:rPr>
              <a:t>Example (Derrik’s truck)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2BD978-E37A-FAC0-3288-B9B90DD8090C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359952" y="1189989"/>
            <a:ext cx="9360720" cy="3656386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 Vehicle Valuation Prediction ===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Input Vehicle: Ram 1500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State: UT | Age: 7.0 years | Odometer: 115,000.0 miles | Condition: 30.0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Canonical Model Representation: 1500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------------------------------------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Log Selling Price:     9.1918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Median Value (naive):  $9,815.95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Expected Value (mean): $11,028.72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for sale in: UT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Trade-in offer for 10-15% profit: $9,374.41 to $9,925.85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2444242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9430D-9979-6648-13F6-6C0E1E592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52" y="519471"/>
            <a:ext cx="9000720" cy="443198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Honda Accord</a:t>
            </a:r>
            <a:r>
              <a:rPr lang="en-US" dirty="0">
                <a:solidFill>
                  <a:schemeClr val="tx1"/>
                </a:solidFill>
              </a:rPr>
              <a:t> Example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148188-2394-30E5-B76C-E76821736CCD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403570" y="962669"/>
            <a:ext cx="9180720" cy="4132729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 Vehicle Valuation Prediction ===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Input Vehicle: Honda Accord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State: UT | Age: 3.0 years | Odometer: 65,000.0 miles | Condition: 40.0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Canonical Model Representation: Accord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------------------------------------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Log Selling Price:     9.5440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Median Value (naive):  $13,961.09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Expected Value (mean): $15,685.99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for sale in: UT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Trade-in offer for 10-15% profit: $13,333.09 to $14,117.39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3157672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08AD5-45B2-8CEC-3E8B-D3D9FC918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952" y="519471"/>
            <a:ext cx="9000720" cy="443198"/>
          </a:xfrm>
        </p:spPr>
        <p:txBody>
          <a:bodyPr/>
          <a:lstStyle/>
          <a:p>
            <a:r>
              <a:rPr lang="en-US" sz="3200" dirty="0">
                <a:solidFill>
                  <a:schemeClr val="tx1"/>
                </a:solidFill>
              </a:rPr>
              <a:t>Toyota Tacoma</a:t>
            </a:r>
            <a:r>
              <a:rPr lang="en-US" dirty="0">
                <a:solidFill>
                  <a:schemeClr val="tx1"/>
                </a:solidFill>
              </a:rPr>
              <a:t> Example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655AE4-AB4D-3A24-04BD-84A12AFAC48A}"/>
              </a:ext>
            </a:extLst>
          </p:cNvPr>
          <p:cNvSpPr>
            <a:spLocks noGrp="1"/>
          </p:cNvSpPr>
          <p:nvPr>
            <p:ph type="subTitle"/>
          </p:nvPr>
        </p:nvSpPr>
        <p:spPr>
          <a:xfrm>
            <a:off x="359952" y="1119441"/>
            <a:ext cx="9360720" cy="3656386"/>
          </a:xfrm>
        </p:spPr>
        <p:txBody>
          <a:bodyPr/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 Vehicle Valuation Prediction ===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Input Vehicle: Toyota Tacoma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State: UT | Age: 13.0 years | Odometer: 200,000.0 miles | Condition: 15.0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Canonical Model Representation: </a:t>
            </a:r>
            <a:r>
              <a:rPr lang="en-US" sz="2400" dirty="0" err="1">
                <a:solidFill>
                  <a:schemeClr val="tx1"/>
                </a:solidFill>
              </a:rPr>
              <a:t>toyota_Other</a:t>
            </a:r>
            <a:endParaRPr lang="en-US" sz="2400" dirty="0">
              <a:solidFill>
                <a:schemeClr val="tx1"/>
              </a:solidFill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------------------------------------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Log Selling Price:     7.8247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Median Value (naive):  $2,501.65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Expected Value (mean): $2,810.73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Predicted for sale in: UT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Trade-in offer for 10-15% profit: $2,389.12 to $2,529.66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====================================</a:t>
            </a:r>
          </a:p>
        </p:txBody>
      </p:sp>
    </p:spTree>
    <p:extLst>
      <p:ext uri="{BB962C8B-B14F-4D97-AF65-F5344CB8AC3E}">
        <p14:creationId xmlns:p14="http://schemas.microsoft.com/office/powerpoint/2010/main" val="18304823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91600"/>
            <a:ext cx="9000720" cy="851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Conclusion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360000" y="1371600"/>
            <a:ext cx="9360720" cy="3557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228600"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Based on the model, we recommend the following: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Don’t sit on your inventory for too long for newer models. They depreciate a lot faster than vehicles 10+ years old.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Consider what it would take to raise the condition a few points and if it would be worth any monetary investment.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Heavy duty pickup trucks are typically safe investments. They hold onto their value far better than other categories.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Vehicle model captures differences in vehicle type, original MSRP, market demand, towing capability, luxury features, and brand perception that are not explained by age, mileage, or condition alone.</a:t>
            </a:r>
            <a:endParaRPr lang="en-US" sz="18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Next Steps	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ubTitle"/>
          </p:nvPr>
        </p:nvSpPr>
        <p:spPr>
          <a:xfrm>
            <a:off x="504000" y="2216160"/>
            <a:ext cx="9071280" cy="1508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 dirty="0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Investigate adding original MSRP, accident history, and local/other economic data for each vehicle model</a:t>
            </a:r>
          </a:p>
          <a:p>
            <a:pPr marL="228600" indent="-2286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endParaRPr lang="en-US" sz="3200" b="0" u="none" strike="noStrike" dirty="0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  <a:p>
            <a:pPr indent="0" algn="l" defTabSz="914400">
              <a:lnSpc>
                <a:spcPct val="90000"/>
              </a:lnSpc>
              <a:spcBef>
                <a:spcPts val="1417"/>
              </a:spcBef>
              <a:buNone/>
            </a:pPr>
            <a:endParaRPr lang="en-US" sz="3200" b="0" u="none" strike="noStrike" dirty="0">
              <a:solidFill>
                <a:srgbClr val="000000"/>
              </a:solidFill>
              <a:effectLst/>
              <a:highlight>
                <a:srgbClr val="FFFFFF"/>
              </a:highlight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Questions?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504000" y="394560"/>
            <a:ext cx="9071280" cy="609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Appendix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280" cy="946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All Data Fields</a:t>
            </a:r>
            <a:endParaRPr lang="en-US" sz="4400" b="0" u="none" strike="noStrike">
              <a:solidFill>
                <a:srgbClr val="DD41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9300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85000" lnSpcReduction="19999"/>
          </a:bodyPr>
          <a:lstStyle/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Year - The manufacturing year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Make - The brand or manufacturer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Model - The specific model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Trim - Additional designation for the vehicle model.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Body - The body type of the vehicle (e.g., SUV, Sedan).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Transmission - The type of transmission in the vehicle (e.g., automatic).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Vin - Vehicle Identification Number, a unique code for each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State - The state where the vehicle is registered.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5103360" y="1509480"/>
            <a:ext cx="428400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77500" lnSpcReduction="20000"/>
          </a:bodyPr>
          <a:lstStyle/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Condition - Condition of the vehicle, possibly rated on a scale of 1 - 50.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Odometer - The mileage or distance traveled by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Color - Exterior color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Interior - Interior color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Seller - The entity selling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MMR - Manheim Market Report, possibly indicating the estimated market value of the vehicle.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marL="432000" indent="-324000" algn="l" defTabSz="9144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Selling Price - The price at which the vehicle was sold.</a:t>
            </a: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  <a:p>
            <a:pPr indent="0" algn="l" defTabSz="914400">
              <a:lnSpc>
                <a:spcPct val="120000"/>
              </a:lnSpc>
              <a:spcBef>
                <a:spcPts val="1417"/>
              </a:spcBef>
              <a:buNone/>
            </a:pPr>
            <a:endParaRPr lang="en-US" sz="1400" b="0" u="none" strike="noStrike">
              <a:solidFill>
                <a:srgbClr val="009BDD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2132</TotalTime>
  <Words>932</Words>
  <Application>Microsoft Office PowerPoint</Application>
  <PresentationFormat>Custom</PresentationFormat>
  <Paragraphs>99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Arial</vt:lpstr>
      <vt:lpstr>Symbol</vt:lpstr>
      <vt:lpstr>Times New Roman</vt:lpstr>
      <vt:lpstr>Wingdings</vt:lpstr>
      <vt:lpstr>Office</vt:lpstr>
      <vt:lpstr>Office</vt:lpstr>
      <vt:lpstr>Calculating Trade in Value</vt:lpstr>
      <vt:lpstr>Business Problem</vt:lpstr>
      <vt:lpstr>Executive Summary</vt:lpstr>
      <vt:lpstr>Data Summary</vt:lpstr>
      <vt:lpstr>Data Preparation</vt:lpstr>
      <vt:lpstr>Price vs Vehicle Age</vt:lpstr>
      <vt:lpstr>Price vs Odometer</vt:lpstr>
      <vt:lpstr>Non-Model Predictors</vt:lpstr>
      <vt:lpstr>Other Models &lt; 10</vt:lpstr>
      <vt:lpstr>Model Predictors</vt:lpstr>
      <vt:lpstr>Ram 1500 Example (Derrik’s truck)</vt:lpstr>
      <vt:lpstr>Honda Accord Example</vt:lpstr>
      <vt:lpstr>Toyota Tacoma Example</vt:lpstr>
      <vt:lpstr>Conclusion</vt:lpstr>
      <vt:lpstr>Next Steps </vt:lpstr>
      <vt:lpstr>Questions?</vt:lpstr>
      <vt:lpstr>Appendix</vt:lpstr>
      <vt:lpstr>All Data Fields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Stacy Bowler</cp:lastModifiedBy>
  <cp:revision>76</cp:revision>
  <dcterms:created xsi:type="dcterms:W3CDTF">2026-06-08T20:57:34Z</dcterms:created>
  <dcterms:modified xsi:type="dcterms:W3CDTF">2026-06-20T04:25:27Z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Custom</vt:lpwstr>
  </property>
  <property fmtid="{D5CDD505-2E9C-101B-9397-08002B2CF9AE}" pid="4" name="Slides">
    <vt:i4>15</vt:i4>
  </property>
</Properties>
</file>