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Lst>
  <p:sldSz cx="10080625" cy="567055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p:spTree>
      <p:nvGrpSpPr>
        <p:cNvPr id="1" name=""/>
        <p:cNvGrpSpPr/>
        <p:nvPr/>
      </p:nvGrpSpPr>
      <p:grpSpPr>
        <a:xfrm>
          <a:off x="0" y="0"/>
          <a:ext cx="0" cy="0"/>
          <a:chOff x="0" y="0"/>
          <a:chExt cx="0" cy="0"/>
        </a:xfrm>
      </p:grpSpPr>
      <p:sp>
        <p:nvSpPr>
          <p:cNvPr id="7" name="PlaceHolder 1"/>
          <p:cNvSpPr>
            <a:spLocks noGrp="1"/>
          </p:cNvSpPr>
          <p:nvPr>
            <p:ph type="title"/>
          </p:nvPr>
        </p:nvSpPr>
        <p:spPr>
          <a:xfrm>
            <a:off x="504000" y="226080"/>
            <a:ext cx="9071640" cy="94644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8" name="PlaceHolder 2"/>
          <p:cNvSpPr>
            <a:spLocks noGrp="1"/>
          </p:cNvSpPr>
          <p:nvPr>
            <p:ph/>
          </p:nvPr>
        </p:nvSpPr>
        <p:spPr>
          <a:xfrm>
            <a:off x="504000" y="1326600"/>
            <a:ext cx="9071640" cy="3288240"/>
          </a:xfrm>
          <a:prstGeom prst="rect">
            <a:avLst/>
          </a:prstGeom>
          <a:noFill/>
          <a:ln w="0">
            <a:noFill/>
          </a:ln>
        </p:spPr>
        <p:txBody>
          <a:bodyPr lIns="0" tIns="0" rIns="0" bIns="0" anchor="t">
            <a:normAutofit/>
          </a:bodyPr>
          <a:p>
            <a:pPr indent="0" algn="l">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1728DDBA-A667-43B9-884B-6CE061A5178A}"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spTree>
      <p:nvGrpSpPr>
        <p:cNvPr id="1" name=""/>
        <p:cNvGrpSpPr/>
        <p:nvPr/>
      </p:nvGrpSpPr>
      <p:grpSpPr>
        <a:xfrm>
          <a:off x="0" y="0"/>
          <a:ext cx="0" cy="0"/>
          <a:chOff x="0" y="0"/>
          <a:chExt cx="0" cy="0"/>
        </a:xfrm>
      </p:grpSpPr>
      <p:sp>
        <p:nvSpPr>
          <p:cNvPr id="9" name="PlaceHolder 1"/>
          <p:cNvSpPr>
            <a:spLocks noGrp="1"/>
          </p:cNvSpPr>
          <p:nvPr>
            <p:ph type="title"/>
          </p:nvPr>
        </p:nvSpPr>
        <p:spPr>
          <a:xfrm>
            <a:off x="504000" y="226080"/>
            <a:ext cx="9071640" cy="94644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10" name="PlaceHolder 2"/>
          <p:cNvSpPr>
            <a:spLocks noGrp="1"/>
          </p:cNvSpPr>
          <p:nvPr>
            <p:ph type="subTitle"/>
          </p:nvPr>
        </p:nvSpPr>
        <p:spPr>
          <a:xfrm>
            <a:off x="504000" y="1326600"/>
            <a:ext cx="9071640" cy="328824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E76414E5-9650-4418-998D-24BF0B5576F4}" type="slidenum">
              <a:t>&lt;#&gt;</a:t>
            </a:fld>
          </a:p>
        </p:txBody>
      </p:sp>
      <p:sp>
        <p:nvSpPr>
          <p:cNvPr id="6" name="PlaceHolder 5"/>
          <p:cNvSpPr>
            <a:spLocks noGrp="1"/>
          </p:cNvSpPr>
          <p:nvPr>
            <p:ph type="dt" idx="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title"/>
          </p:nvPr>
        </p:nvSpPr>
        <p:spPr>
          <a:xfrm>
            <a:off x="504000" y="226080"/>
            <a:ext cx="9071640" cy="94644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504000" y="1326600"/>
            <a:ext cx="9071640" cy="328824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
        <p:nvSpPr>
          <p:cNvPr id="4" name="PlaceHolder 3"/>
          <p:cNvSpPr>
            <a:spLocks noGrp="1"/>
          </p:cNvSpPr>
          <p:nvPr>
            <p:ph type="dt" idx="1"/>
          </p:nvPr>
        </p:nvSpPr>
        <p:spPr>
          <a:xfrm>
            <a:off x="504000" y="5165280"/>
            <a:ext cx="2348280" cy="390600"/>
          </a:xfrm>
          <a:prstGeom prst="rect">
            <a:avLst/>
          </a:prstGeom>
          <a:noFill/>
          <a:ln w="0">
            <a:noFill/>
          </a:ln>
        </p:spPr>
        <p:txBody>
          <a:bodyPr lIns="0" tIns="0" rIns="0" bIns="0" anchor="t">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5" name="PlaceHolder 4"/>
          <p:cNvSpPr>
            <a:spLocks noGrp="1"/>
          </p:cNvSpPr>
          <p:nvPr>
            <p:ph type="ftr" idx="2"/>
          </p:nvPr>
        </p:nvSpPr>
        <p:spPr>
          <a:xfrm>
            <a:off x="3447360" y="5165280"/>
            <a:ext cx="3195000" cy="390600"/>
          </a:xfrm>
          <a:prstGeom prst="rect">
            <a:avLst/>
          </a:prstGeom>
          <a:noFill/>
          <a:ln w="0">
            <a:noFill/>
          </a:ln>
        </p:spPr>
        <p:txBody>
          <a:bodyPr lIns="0" tIns="0" rIns="0" bIns="0" anchor="t">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 name="PlaceHolder 5"/>
          <p:cNvSpPr>
            <a:spLocks noGrp="1"/>
          </p:cNvSpPr>
          <p:nvPr>
            <p:ph type="sldNum" idx="3"/>
          </p:nvPr>
        </p:nvSpPr>
        <p:spPr>
          <a:xfrm>
            <a:off x="7227360" y="5165280"/>
            <a:ext cx="2348280" cy="39060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fld id="{F601CC7C-ABAE-49F7-A8C4-BB0D2AE355CD}"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 name="PlaceHolder 1"/>
          <p:cNvSpPr>
            <a:spLocks noGrp="1"/>
          </p:cNvSpPr>
          <p:nvPr>
            <p:ph type="title"/>
          </p:nvPr>
        </p:nvSpPr>
        <p:spPr>
          <a:xfrm>
            <a:off x="504000" y="226080"/>
            <a:ext cx="9071640" cy="946440"/>
          </a:xfrm>
          <a:prstGeom prst="rect">
            <a:avLst/>
          </a:prstGeom>
          <a:noFill/>
          <a:ln w="0">
            <a:noFill/>
          </a:ln>
        </p:spPr>
        <p:txBody>
          <a:bodyPr lIns="0" tIns="0" rIns="0" bIns="0" anchor="ctr">
            <a:spAutoFit/>
          </a:bodyPr>
          <a:p>
            <a:pPr indent="0" algn="ctr">
              <a:buNone/>
            </a:pPr>
            <a:r>
              <a:rPr lang="en-US" sz="4400" b="0" u="none" strike="noStrike">
                <a:solidFill>
                  <a:srgbClr val="000000"/>
                </a:solidFill>
                <a:effectLst/>
                <a:uFillTx/>
                <a:latin typeface="Arial"/>
              </a:rPr>
              <a:t>Presentation: Name goes here</a:t>
            </a:r>
            <a:endParaRPr lang="en-US" sz="4400" b="0" u="none" strike="noStrike">
              <a:solidFill>
                <a:srgbClr val="000000"/>
              </a:solidFill>
              <a:effectLst/>
              <a:uFillTx/>
              <a:latin typeface="Arial"/>
            </a:endParaRPr>
          </a:p>
        </p:txBody>
      </p:sp>
      <p:sp>
        <p:nvSpPr>
          <p:cNvPr id="12" name="PlaceHolder 2"/>
          <p:cNvSpPr>
            <a:spLocks noGrp="1"/>
          </p:cNvSpPr>
          <p:nvPr>
            <p:ph type="subTitle"/>
          </p:nvPr>
        </p:nvSpPr>
        <p:spPr>
          <a:xfrm>
            <a:off x="504000" y="1326600"/>
            <a:ext cx="9071640" cy="3288240"/>
          </a:xfrm>
          <a:prstGeom prst="rect">
            <a:avLst/>
          </a:prstGeom>
          <a:noFill/>
          <a:ln w="0">
            <a:noFill/>
          </a:ln>
        </p:spPr>
        <p:txBody>
          <a:bodyPr lIns="0" tIns="0" rIns="0" bIns="0" anchor="ctr">
            <a:spAutoFit/>
          </a:bodyPr>
          <a:p>
            <a:pPr indent="0" algn="ctr">
              <a:buNone/>
            </a:pPr>
            <a:r>
              <a:rPr lang="en-US" sz="3200" b="0" u="none" strike="noStrike">
                <a:solidFill>
                  <a:srgbClr val="000000"/>
                </a:solidFill>
                <a:effectLst/>
                <a:uFillTx/>
                <a:latin typeface="Arial"/>
              </a:rPr>
              <a:t>By: Stacy Bowler &amp;</a:t>
            </a:r>
            <a:endParaRPr lang="en-US" sz="3200" b="0" u="none" strike="noStrike">
              <a:solidFill>
                <a:srgbClr val="000000"/>
              </a:solidFill>
              <a:effectLst/>
              <a:uFillTx/>
              <a:latin typeface="Arial"/>
            </a:endParaRPr>
          </a:p>
          <a:p>
            <a:pPr indent="0" algn="ctr">
              <a:buNone/>
            </a:pPr>
            <a:r>
              <a:rPr lang="en-US" sz="3200" b="0" u="none" strike="noStrike">
                <a:solidFill>
                  <a:srgbClr val="000000"/>
                </a:solidFill>
                <a:effectLst/>
                <a:uFillTx/>
                <a:latin typeface="Arial"/>
              </a:rPr>
              <a:t>Derrik Miller</a:t>
            </a: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 name="PlaceHolder 1"/>
          <p:cNvSpPr>
            <a:spLocks noGrp="1"/>
          </p:cNvSpPr>
          <p:nvPr>
            <p:ph type="title"/>
          </p:nvPr>
        </p:nvSpPr>
        <p:spPr>
          <a:xfrm>
            <a:off x="504000" y="226080"/>
            <a:ext cx="9071640" cy="946440"/>
          </a:xfrm>
          <a:prstGeom prst="rect">
            <a:avLst/>
          </a:prstGeom>
          <a:noFill/>
          <a:ln w="0">
            <a:noFill/>
          </a:ln>
        </p:spPr>
        <p:txBody>
          <a:bodyPr lIns="0" tIns="0" rIns="0" bIns="0" anchor="ctr">
            <a:spAutoFit/>
          </a:bodyPr>
          <a:p>
            <a:pPr indent="0" algn="ctr">
              <a:buNone/>
            </a:pPr>
            <a:r>
              <a:rPr lang="en-US" sz="4400" b="0" u="none" strike="noStrike">
                <a:solidFill>
                  <a:srgbClr val="000000"/>
                </a:solidFill>
                <a:effectLst/>
                <a:uFillTx/>
                <a:latin typeface="Arial"/>
              </a:rPr>
              <a:t>Explain the Business Problem</a:t>
            </a:r>
            <a:endParaRPr lang="en-US" sz="4400" b="0" u="none" strike="noStrike">
              <a:solidFill>
                <a:srgbClr val="000000"/>
              </a:solidFill>
              <a:effectLst/>
              <a:uFillTx/>
              <a:latin typeface="Arial"/>
            </a:endParaRPr>
          </a:p>
        </p:txBody>
      </p:sp>
      <p:sp>
        <p:nvSpPr>
          <p:cNvPr id="14" name="PlaceHolder 2"/>
          <p:cNvSpPr>
            <a:spLocks noGrp="1"/>
          </p:cNvSpPr>
          <p:nvPr>
            <p:ph/>
          </p:nvPr>
        </p:nvSpPr>
        <p:spPr>
          <a:xfrm>
            <a:off x="457200" y="1371600"/>
            <a:ext cx="9071640" cy="3288240"/>
          </a:xfrm>
          <a:prstGeom prst="rect">
            <a:avLst/>
          </a:prstGeom>
          <a:noFill/>
          <a:ln w="0">
            <a:noFill/>
          </a:ln>
        </p:spPr>
        <p:txBody>
          <a:bodyPr lIns="0" tIns="0" rIns="0" bIns="0" anchor="t">
            <a:normAutofit fontScale="92500" lnSpcReduction="9999"/>
          </a:bodyPr>
          <a:p>
            <a:pPr marL="432000" indent="-324000" algn="l">
              <a:spcBef>
                <a:spcPts val="1191"/>
              </a:spcBef>
              <a:spcAft>
                <a:spcPts val="992"/>
              </a:spcAft>
              <a:buClr>
                <a:srgbClr val="000000"/>
              </a:buClr>
              <a:buSzPct val="45000"/>
              <a:buFont typeface="Wingdings" charset="2"/>
              <a:buChar char=""/>
            </a:pPr>
            <a:r>
              <a:rPr lang="en-US" sz="3200" b="0" u="none" strike="noStrike">
                <a:solidFill>
                  <a:srgbClr val="000000"/>
                </a:solidFill>
                <a:effectLst/>
                <a:uFillTx/>
                <a:latin typeface="Arial"/>
              </a:rPr>
              <a:t>You have selected data that will help inform a business decision. You need to clearly explain the business problem and how the data you have selected will inform the business decision.</a:t>
            </a:r>
            <a:endParaRPr lang="en-US" sz="3200" b="0" u="none" strike="noStrike">
              <a:solidFill>
                <a:srgbClr val="000000"/>
              </a:solidFill>
              <a:effectLst/>
              <a:uFillTx/>
              <a:latin typeface="Arial"/>
            </a:endParaRPr>
          </a:p>
          <a:p>
            <a:pPr marL="432000" indent="-324000" algn="l">
              <a:spcBef>
                <a:spcPts val="1191"/>
              </a:spcBef>
              <a:spcAft>
                <a:spcPts val="992"/>
              </a:spcAft>
              <a:buClr>
                <a:srgbClr val="000000"/>
              </a:buClr>
              <a:buSzPct val="45000"/>
              <a:buFont typeface="Wingdings" charset="2"/>
              <a:buChar char=""/>
            </a:pPr>
            <a:r>
              <a:rPr lang="en-US" sz="3200" b="0" u="none" strike="noStrike">
                <a:solidFill>
                  <a:srgbClr val="000000"/>
                </a:solidFill>
                <a:effectLst/>
                <a:uFillTx/>
                <a:latin typeface="Arial"/>
              </a:rPr>
              <a:t>This might seem strange to do if you're talking to the decision maker, but being transparent about what you understand the problem is will give them confidence that you're on the same page.</a:t>
            </a: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 name="PlaceHolder 1"/>
          <p:cNvSpPr>
            <a:spLocks noGrp="1"/>
          </p:cNvSpPr>
          <p:nvPr>
            <p:ph type="title"/>
          </p:nvPr>
        </p:nvSpPr>
        <p:spPr>
          <a:xfrm>
            <a:off x="504000" y="226080"/>
            <a:ext cx="9071640" cy="946440"/>
          </a:xfrm>
          <a:prstGeom prst="rect">
            <a:avLst/>
          </a:prstGeom>
          <a:noFill/>
          <a:ln w="0">
            <a:noFill/>
          </a:ln>
        </p:spPr>
        <p:txBody>
          <a:bodyPr lIns="0" tIns="0" rIns="0" bIns="0" anchor="ctr">
            <a:spAutoFit/>
          </a:bodyPr>
          <a:p>
            <a:pPr indent="0" algn="ctr">
              <a:buNone/>
            </a:pPr>
            <a:r>
              <a:rPr lang="en-US" sz="4400" b="0" u="none" strike="noStrike">
                <a:solidFill>
                  <a:srgbClr val="000000"/>
                </a:solidFill>
                <a:effectLst/>
                <a:uFillTx/>
                <a:latin typeface="Arial"/>
              </a:rPr>
              <a:t>Provide an Executive Summary</a:t>
            </a:r>
            <a:endParaRPr lang="en-US" sz="4400" b="0" u="none" strike="noStrike">
              <a:solidFill>
                <a:srgbClr val="000000"/>
              </a:solidFill>
              <a:effectLst/>
              <a:uFillTx/>
              <a:latin typeface="Arial"/>
            </a:endParaRPr>
          </a:p>
        </p:txBody>
      </p:sp>
      <p:sp>
        <p:nvSpPr>
          <p:cNvPr id="16" name="PlaceHolder 2"/>
          <p:cNvSpPr>
            <a:spLocks noGrp="1"/>
          </p:cNvSpPr>
          <p:nvPr>
            <p:ph/>
          </p:nvPr>
        </p:nvSpPr>
        <p:spPr>
          <a:xfrm>
            <a:off x="504000" y="1326600"/>
            <a:ext cx="9071640" cy="3288240"/>
          </a:xfrm>
          <a:prstGeom prst="rect">
            <a:avLst/>
          </a:prstGeom>
          <a:noFill/>
          <a:ln w="0">
            <a:noFill/>
          </a:ln>
        </p:spPr>
        <p:txBody>
          <a:bodyPr lIns="0" tIns="0" rIns="0" bIns="0" anchor="t">
            <a:normAutofit fontScale="92500" lnSpcReduction="9999"/>
          </a:bodyPr>
          <a:p>
            <a:pPr marL="432000" indent="-324000" algn="l">
              <a:spcBef>
                <a:spcPts val="1191"/>
              </a:spcBef>
              <a:spcAft>
                <a:spcPts val="992"/>
              </a:spcAft>
              <a:buClr>
                <a:srgbClr val="000000"/>
              </a:buClr>
              <a:buSzPct val="45000"/>
              <a:buFont typeface="Wingdings" charset="2"/>
              <a:buChar char=""/>
            </a:pPr>
            <a:r>
              <a:rPr lang="en-US" sz="3200" b="0" u="none" strike="noStrike">
                <a:solidFill>
                  <a:srgbClr val="000000"/>
                </a:solidFill>
                <a:effectLst/>
                <a:uFillTx/>
                <a:latin typeface="Arial"/>
              </a:rPr>
              <a:t>Once the context of the business decision is understood, you need to summarize the model results in a way that is technically correct while being accessible.</a:t>
            </a:r>
            <a:endParaRPr lang="en-US" sz="3200" b="0" u="none" strike="noStrike">
              <a:solidFill>
                <a:srgbClr val="000000"/>
              </a:solidFill>
              <a:effectLst/>
              <a:uFillTx/>
              <a:latin typeface="Arial"/>
            </a:endParaRPr>
          </a:p>
          <a:p>
            <a:pPr marL="432000" indent="-324000" algn="l">
              <a:spcBef>
                <a:spcPts val="1191"/>
              </a:spcBef>
              <a:spcAft>
                <a:spcPts val="992"/>
              </a:spcAft>
              <a:buClr>
                <a:srgbClr val="000000"/>
              </a:buClr>
              <a:buSzPct val="45000"/>
              <a:buFont typeface="Wingdings" charset="2"/>
              <a:buChar char=""/>
            </a:pPr>
            <a:r>
              <a:rPr lang="en-US" sz="3200" b="0" u="none" strike="noStrike">
                <a:solidFill>
                  <a:srgbClr val="000000"/>
                </a:solidFill>
                <a:effectLst/>
                <a:uFillTx/>
                <a:latin typeface="Arial"/>
              </a:rPr>
              <a:t>This executive summary should be as short and simple as possible. Don't make your audience wait for the answer: make it clear from the beginning. The rest of the presentation is details.</a:t>
            </a: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 name="PlaceHolder 1"/>
          <p:cNvSpPr>
            <a:spLocks noGrp="1"/>
          </p:cNvSpPr>
          <p:nvPr>
            <p:ph type="title"/>
          </p:nvPr>
        </p:nvSpPr>
        <p:spPr>
          <a:xfrm>
            <a:off x="504000" y="226080"/>
            <a:ext cx="9071640" cy="946440"/>
          </a:xfrm>
          <a:prstGeom prst="rect">
            <a:avLst/>
          </a:prstGeom>
          <a:noFill/>
          <a:ln w="0">
            <a:noFill/>
          </a:ln>
        </p:spPr>
        <p:txBody>
          <a:bodyPr lIns="0" tIns="0" rIns="0" bIns="0" anchor="ctr">
            <a:spAutoFit/>
          </a:bodyPr>
          <a:p>
            <a:pPr indent="0" algn="ctr">
              <a:buNone/>
            </a:pPr>
            <a:r>
              <a:rPr lang="en-US" sz="4400" b="0" u="none" strike="noStrike">
                <a:solidFill>
                  <a:srgbClr val="000000"/>
                </a:solidFill>
                <a:effectLst/>
                <a:uFillTx/>
                <a:latin typeface="Arial"/>
              </a:rPr>
              <a:t>Summarizing the Data</a:t>
            </a:r>
            <a:endParaRPr lang="en-US" sz="4400" b="0" u="none" strike="noStrike">
              <a:solidFill>
                <a:srgbClr val="000000"/>
              </a:solidFill>
              <a:effectLst/>
              <a:uFillTx/>
              <a:latin typeface="Arial"/>
            </a:endParaRPr>
          </a:p>
        </p:txBody>
      </p:sp>
      <p:sp>
        <p:nvSpPr>
          <p:cNvPr id="18" name="PlaceHolder 2"/>
          <p:cNvSpPr>
            <a:spLocks noGrp="1"/>
          </p:cNvSpPr>
          <p:nvPr>
            <p:ph/>
          </p:nvPr>
        </p:nvSpPr>
        <p:spPr>
          <a:xfrm>
            <a:off x="504000" y="1326600"/>
            <a:ext cx="9071640" cy="3288240"/>
          </a:xfrm>
          <a:prstGeom prst="rect">
            <a:avLst/>
          </a:prstGeom>
          <a:noFill/>
          <a:ln w="0">
            <a:noFill/>
          </a:ln>
        </p:spPr>
        <p:txBody>
          <a:bodyPr lIns="0" tIns="0" rIns="0" bIns="0" anchor="t">
            <a:normAutofit/>
          </a:bodyPr>
          <a:p>
            <a:pPr marL="432000" indent="-324000" algn="l">
              <a:spcBef>
                <a:spcPts val="1191"/>
              </a:spcBef>
              <a:spcAft>
                <a:spcPts val="992"/>
              </a:spcAft>
              <a:buClr>
                <a:srgbClr val="000000"/>
              </a:buClr>
              <a:buSzPct val="45000"/>
              <a:buFont typeface="Wingdings" charset="2"/>
              <a:buChar char=""/>
            </a:pPr>
            <a:r>
              <a:rPr lang="en-US" sz="3200" b="0" u="none" strike="noStrike">
                <a:solidFill>
                  <a:srgbClr val="000000"/>
                </a:solidFill>
                <a:effectLst/>
                <a:uFillTx/>
                <a:latin typeface="Arial"/>
              </a:rPr>
              <a:t>Showcase the essentials from your exploratory data analysis so that your audience understands the data.</a:t>
            </a:r>
            <a:endParaRPr lang="en-US" sz="3200" b="0" u="none" strike="noStrike">
              <a:solidFill>
                <a:srgbClr val="000000"/>
              </a:solidFill>
              <a:effectLst/>
              <a:uFillTx/>
              <a:latin typeface="Arial"/>
            </a:endParaRPr>
          </a:p>
          <a:p>
            <a:pPr marL="432000" indent="-324000" algn="l">
              <a:spcBef>
                <a:spcPts val="1191"/>
              </a:spcBef>
              <a:spcAft>
                <a:spcPts val="992"/>
              </a:spcAft>
              <a:buClr>
                <a:srgbClr val="000000"/>
              </a:buClr>
              <a:buSzPct val="45000"/>
              <a:buFont typeface="Wingdings" charset="2"/>
              <a:buChar char=""/>
            </a:pPr>
            <a:r>
              <a:rPr lang="en-US" sz="3200" b="0" u="none" strike="noStrike">
                <a:solidFill>
                  <a:srgbClr val="000000"/>
                </a:solidFill>
                <a:effectLst/>
                <a:uFillTx/>
                <a:latin typeface="Arial"/>
              </a:rPr>
              <a:t>Visualizations should be heavily featured. Make sure they are clearly labeled.</a:t>
            </a: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 name="PlaceHolder 1"/>
          <p:cNvSpPr>
            <a:spLocks noGrp="1"/>
          </p:cNvSpPr>
          <p:nvPr>
            <p:ph type="title"/>
          </p:nvPr>
        </p:nvSpPr>
        <p:spPr>
          <a:xfrm>
            <a:off x="504000" y="226080"/>
            <a:ext cx="9071640" cy="946440"/>
          </a:xfrm>
          <a:prstGeom prst="rect">
            <a:avLst/>
          </a:prstGeom>
          <a:noFill/>
          <a:ln w="0">
            <a:noFill/>
          </a:ln>
        </p:spPr>
        <p:txBody>
          <a:bodyPr lIns="0" tIns="0" rIns="0" bIns="0" anchor="ctr">
            <a:spAutoFit/>
          </a:bodyPr>
          <a:p>
            <a:pPr indent="0" algn="ctr">
              <a:buNone/>
            </a:pPr>
            <a:r>
              <a:rPr lang="en-US" sz="4400" b="0" u="none" strike="noStrike">
                <a:solidFill>
                  <a:srgbClr val="000000"/>
                </a:solidFill>
                <a:effectLst/>
                <a:uFillTx/>
                <a:latin typeface="Arial"/>
              </a:rPr>
              <a:t>Detailing the Model</a:t>
            </a:r>
            <a:endParaRPr lang="en-US" sz="4400" b="0" u="none" strike="noStrike">
              <a:solidFill>
                <a:srgbClr val="000000"/>
              </a:solidFill>
              <a:effectLst/>
              <a:uFillTx/>
              <a:latin typeface="Arial"/>
            </a:endParaRPr>
          </a:p>
        </p:txBody>
      </p:sp>
      <p:sp>
        <p:nvSpPr>
          <p:cNvPr id="20" name="PlaceHolder 2"/>
          <p:cNvSpPr>
            <a:spLocks noGrp="1"/>
          </p:cNvSpPr>
          <p:nvPr>
            <p:ph/>
          </p:nvPr>
        </p:nvSpPr>
        <p:spPr>
          <a:xfrm>
            <a:off x="504000" y="1326600"/>
            <a:ext cx="9071640" cy="3288240"/>
          </a:xfrm>
          <a:prstGeom prst="rect">
            <a:avLst/>
          </a:prstGeom>
          <a:noFill/>
          <a:ln w="0">
            <a:noFill/>
          </a:ln>
        </p:spPr>
        <p:txBody>
          <a:bodyPr lIns="0" tIns="0" rIns="0" bIns="0" anchor="t">
            <a:normAutofit fontScale="85000" lnSpcReduction="19999"/>
          </a:bodyPr>
          <a:p>
            <a:pPr marL="432000" indent="-324000" algn="l">
              <a:spcBef>
                <a:spcPts val="1191"/>
              </a:spcBef>
              <a:spcAft>
                <a:spcPts val="992"/>
              </a:spcAft>
              <a:buClr>
                <a:srgbClr val="000000"/>
              </a:buClr>
              <a:buSzPct val="45000"/>
              <a:buFont typeface="Wingdings" charset="2"/>
              <a:buChar char=""/>
            </a:pPr>
            <a:r>
              <a:rPr lang="en-US" sz="2600" b="0" u="none" strike="noStrike">
                <a:solidFill>
                  <a:srgbClr val="000000"/>
                </a:solidFill>
                <a:effectLst/>
                <a:uFillTx/>
                <a:latin typeface="Arial"/>
              </a:rPr>
              <a:t>Now that your audience knows the answers and something about the data, show them how you got there.</a:t>
            </a:r>
            <a:endParaRPr lang="en-US" sz="2600" b="0" u="none" strike="noStrike">
              <a:solidFill>
                <a:srgbClr val="000000"/>
              </a:solidFill>
              <a:effectLst/>
              <a:uFillTx/>
              <a:latin typeface="Arial"/>
            </a:endParaRPr>
          </a:p>
          <a:p>
            <a:pPr marL="432000" indent="-324000" algn="l">
              <a:spcBef>
                <a:spcPts val="1191"/>
              </a:spcBef>
              <a:spcAft>
                <a:spcPts val="992"/>
              </a:spcAft>
              <a:buClr>
                <a:srgbClr val="000000"/>
              </a:buClr>
              <a:buSzPct val="45000"/>
              <a:buFont typeface="Wingdings" charset="2"/>
              <a:buChar char=""/>
            </a:pPr>
            <a:r>
              <a:rPr lang="en-US" sz="2600" b="0" u="none" strike="noStrike">
                <a:solidFill>
                  <a:srgbClr val="000000"/>
                </a:solidFill>
                <a:effectLst/>
                <a:uFillTx/>
                <a:latin typeface="Arial"/>
              </a:rPr>
              <a:t>Explain the models you compared and which you selected as best and why, including variables included, validating assumptions, choices that you made along the way, and correct statistical inference to all back up the summary of the model results you've given. Don't share model output tables or show how all the model assumptions were met. Focus on visualizations and interpreting the parameter estimates in terms of the business application.</a:t>
            </a:r>
            <a:endParaRPr lang="en-US" sz="2600" b="0" u="none" strike="noStrike">
              <a:solidFill>
                <a:srgbClr val="000000"/>
              </a:solidFill>
              <a:effectLst/>
              <a:uFillTx/>
              <a:latin typeface="Arial"/>
            </a:endParaRPr>
          </a:p>
          <a:p>
            <a:pPr marL="432000" indent="-324000" algn="l">
              <a:spcBef>
                <a:spcPts val="1191"/>
              </a:spcBef>
              <a:spcAft>
                <a:spcPts val="992"/>
              </a:spcAft>
              <a:buClr>
                <a:srgbClr val="000000"/>
              </a:buClr>
              <a:buSzPct val="45000"/>
              <a:buFont typeface="Wingdings" charset="2"/>
              <a:buChar char=""/>
            </a:pPr>
            <a:r>
              <a:rPr lang="en-US" sz="2600" b="0" u="none" strike="noStrike">
                <a:solidFill>
                  <a:srgbClr val="000000"/>
                </a:solidFill>
                <a:effectLst/>
                <a:uFillTx/>
                <a:latin typeface="Arial"/>
              </a:rPr>
              <a:t>Conclude with summarizing the model results again with the data and model results as context. Make your recommendations for the business problem clear.</a:t>
            </a:r>
            <a:endParaRPr lang="en-US" sz="2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 name="PlaceHolder 1"/>
          <p:cNvSpPr>
            <a:spLocks noGrp="1"/>
          </p:cNvSpPr>
          <p:nvPr>
            <p:ph type="title"/>
          </p:nvPr>
        </p:nvSpPr>
        <p:spPr>
          <a:xfrm>
            <a:off x="504000" y="226080"/>
            <a:ext cx="9071640" cy="946440"/>
          </a:xfrm>
          <a:prstGeom prst="rect">
            <a:avLst/>
          </a:prstGeom>
          <a:noFill/>
          <a:ln w="0">
            <a:noFill/>
          </a:ln>
        </p:spPr>
        <p:txBody>
          <a:bodyPr lIns="0" tIns="0" rIns="0" bIns="0" anchor="ctr">
            <a:spAutoFit/>
          </a:bodyPr>
          <a:p>
            <a:pPr indent="0" algn="ctr">
              <a:buNone/>
            </a:pPr>
            <a:r>
              <a:rPr lang="en-US" sz="4400" b="0" u="none" strike="noStrike">
                <a:solidFill>
                  <a:srgbClr val="000000"/>
                </a:solidFill>
                <a:effectLst/>
                <a:uFillTx/>
                <a:latin typeface="Arial"/>
              </a:rPr>
              <a:t>(no slide needed) Professionalism</a:t>
            </a:r>
            <a:endParaRPr lang="en-US" sz="4400" b="0" u="none" strike="noStrike">
              <a:solidFill>
                <a:srgbClr val="000000"/>
              </a:solidFill>
              <a:effectLst/>
              <a:uFillTx/>
              <a:latin typeface="Arial"/>
            </a:endParaRPr>
          </a:p>
        </p:txBody>
      </p:sp>
      <p:sp>
        <p:nvSpPr>
          <p:cNvPr id="22" name="PlaceHolder 2"/>
          <p:cNvSpPr>
            <a:spLocks noGrp="1"/>
          </p:cNvSpPr>
          <p:nvPr>
            <p:ph/>
          </p:nvPr>
        </p:nvSpPr>
        <p:spPr>
          <a:xfrm>
            <a:off x="504000" y="1326600"/>
            <a:ext cx="9071640" cy="3288240"/>
          </a:xfrm>
          <a:prstGeom prst="rect">
            <a:avLst/>
          </a:prstGeom>
          <a:noFill/>
          <a:ln w="0">
            <a:noFill/>
          </a:ln>
        </p:spPr>
        <p:txBody>
          <a:bodyPr lIns="0" tIns="0" rIns="0" bIns="0" anchor="t">
            <a:normAutofit fontScale="85000" lnSpcReduction="9999"/>
          </a:bodyPr>
          <a:p>
            <a:pPr marL="432000" indent="-324000" algn="l">
              <a:spcBef>
                <a:spcPts val="1191"/>
              </a:spcBef>
              <a:spcAft>
                <a:spcPts val="992"/>
              </a:spcAft>
              <a:buClr>
                <a:srgbClr val="000000"/>
              </a:buClr>
              <a:buSzPct val="45000"/>
              <a:buFont typeface="Wingdings" charset="2"/>
              <a:buChar char=""/>
            </a:pPr>
            <a:r>
              <a:rPr lang="en-US" sz="2000" b="0" u="none" strike="noStrike">
                <a:solidFill>
                  <a:srgbClr val="000000"/>
                </a:solidFill>
                <a:effectLst/>
                <a:uFillTx/>
                <a:latin typeface="Arial"/>
              </a:rPr>
              <a:t>Know your audience. You need to present in a way so that everyone can understand the essentials of what you're doing, if not all of the details.</a:t>
            </a:r>
            <a:endParaRPr lang="en-US" sz="2000" b="0" u="none" strike="noStrike">
              <a:solidFill>
                <a:srgbClr val="000000"/>
              </a:solidFill>
              <a:effectLst/>
              <a:uFillTx/>
              <a:latin typeface="Arial"/>
            </a:endParaRPr>
          </a:p>
          <a:p>
            <a:pPr marL="432000" indent="-324000" algn="l">
              <a:spcBef>
                <a:spcPts val="1191"/>
              </a:spcBef>
              <a:spcAft>
                <a:spcPts val="992"/>
              </a:spcAft>
              <a:buClr>
                <a:srgbClr val="000000"/>
              </a:buClr>
              <a:buSzPct val="45000"/>
              <a:buFont typeface="Wingdings" charset="2"/>
              <a:buChar char=""/>
            </a:pPr>
            <a:r>
              <a:rPr lang="en-US" sz="2000" b="0" u="none" strike="noStrike">
                <a:solidFill>
                  <a:srgbClr val="000000"/>
                </a:solidFill>
                <a:effectLst/>
                <a:uFillTx/>
                <a:latin typeface="Arial"/>
              </a:rPr>
              <a:t>Polish is essential. The presentation needs to look good. It will enhance the credibility of what you're saying. Try not to give your audience any reason to doubt what you're trying to communicate.</a:t>
            </a:r>
            <a:endParaRPr lang="en-US" sz="2000" b="0" u="none" strike="noStrike">
              <a:solidFill>
                <a:srgbClr val="000000"/>
              </a:solidFill>
              <a:effectLst/>
              <a:uFillTx/>
              <a:latin typeface="Arial"/>
            </a:endParaRPr>
          </a:p>
          <a:p>
            <a:pPr marL="432000" indent="-324000" algn="l">
              <a:spcBef>
                <a:spcPts val="1191"/>
              </a:spcBef>
              <a:spcAft>
                <a:spcPts val="992"/>
              </a:spcAft>
              <a:buClr>
                <a:srgbClr val="000000"/>
              </a:buClr>
              <a:buSzPct val="45000"/>
              <a:buFont typeface="Wingdings" charset="2"/>
              <a:buChar char=""/>
            </a:pPr>
            <a:r>
              <a:rPr lang="en-US" sz="2000" b="0" u="none" strike="noStrike">
                <a:solidFill>
                  <a:srgbClr val="000000"/>
                </a:solidFill>
                <a:effectLst/>
                <a:uFillTx/>
                <a:latin typeface="Arial"/>
              </a:rPr>
              <a:t>Remember the medium. A presentation is not a report or a lecture. Be succinct. Remember that people can't listen to you and read at the same time.</a:t>
            </a:r>
            <a:endParaRPr lang="en-US" sz="2000" b="0" u="none" strike="noStrike">
              <a:solidFill>
                <a:srgbClr val="000000"/>
              </a:solidFill>
              <a:effectLst/>
              <a:uFillTx/>
              <a:latin typeface="Arial"/>
            </a:endParaRPr>
          </a:p>
          <a:p>
            <a:pPr marL="432000" indent="-324000" algn="l">
              <a:spcBef>
                <a:spcPts val="1191"/>
              </a:spcBef>
              <a:spcAft>
                <a:spcPts val="992"/>
              </a:spcAft>
              <a:buClr>
                <a:srgbClr val="000000"/>
              </a:buClr>
              <a:buSzPct val="45000"/>
              <a:buFont typeface="Wingdings" charset="2"/>
              <a:buChar char=""/>
            </a:pPr>
            <a:r>
              <a:rPr lang="en-US" sz="2000" b="0" u="none" strike="noStrike">
                <a:solidFill>
                  <a:srgbClr val="000000"/>
                </a:solidFill>
                <a:effectLst/>
                <a:uFillTx/>
                <a:latin typeface="Arial"/>
              </a:rPr>
              <a:t>Do your best to make technical concepts accessible to those who may be less technical. Highlight technical details or use callouts to parse challenging visualizations or concepts.</a:t>
            </a:r>
            <a:endParaRPr lang="en-US" sz="2000" b="0" u="none" strike="noStrike">
              <a:solidFill>
                <a:srgbClr val="000000"/>
              </a:solidFill>
              <a:effectLst/>
              <a:uFillTx/>
              <a:latin typeface="Arial"/>
            </a:endParaRPr>
          </a:p>
          <a:p>
            <a:pPr marL="432000" indent="-324000" algn="l">
              <a:spcBef>
                <a:spcPts val="1191"/>
              </a:spcBef>
              <a:spcAft>
                <a:spcPts val="992"/>
              </a:spcAft>
              <a:buClr>
                <a:srgbClr val="000000"/>
              </a:buClr>
              <a:buSzPct val="45000"/>
              <a:buFont typeface="Wingdings" charset="2"/>
              <a:buChar char=""/>
            </a:pPr>
            <a:r>
              <a:rPr lang="en-US" sz="2000" b="0" u="none" strike="noStrike">
                <a:solidFill>
                  <a:srgbClr val="000000"/>
                </a:solidFill>
                <a:effectLst/>
                <a:uFillTx/>
                <a:latin typeface="Arial"/>
              </a:rPr>
              <a:t>Don't overpromise. Be transparent about uncertainty.</a:t>
            </a:r>
            <a:endParaRPr lang="en-US" sz="2000" b="0" u="none" strike="noStrike">
              <a:solidFill>
                <a:srgbClr val="000000"/>
              </a:solidFill>
              <a:effectLst/>
              <a:uFillTx/>
              <a:latin typeface="Arial"/>
            </a:endParaRPr>
          </a:p>
          <a:p>
            <a:pPr marL="432000" indent="-324000" algn="l">
              <a:spcBef>
                <a:spcPts val="1191"/>
              </a:spcBef>
              <a:spcAft>
                <a:spcPts val="992"/>
              </a:spcAft>
              <a:buClr>
                <a:srgbClr val="000000"/>
              </a:buClr>
              <a:buSzPct val="45000"/>
              <a:buFont typeface="Wingdings" charset="2"/>
              <a:buChar char=""/>
            </a:pPr>
            <a:r>
              <a:rPr lang="en-US" sz="2000" b="0" u="none" strike="noStrike">
                <a:solidFill>
                  <a:srgbClr val="000000"/>
                </a:solidFill>
                <a:effectLst/>
                <a:uFillTx/>
                <a:latin typeface="Arial"/>
              </a:rPr>
              <a:t>Make sure you leave time for questions (1 or 2 minutes in our case).</a:t>
            </a: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8</TotalTime>
  <Application>LibreOffice/26.2.3.2$Linux_X86_64 LibreOffice_project/620$Build-2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2026-06-08T20:57:34Z</dcterms:created>
  <dc:creator/>
  <dc:description/>
  <dc:language>en-US</dc:language>
  <cp:lastModifiedBy/>
  <dcterms:modified xsi:type="dcterms:W3CDTF">2026-06-08T21:05:33Z</dcterms:modified>
  <cp:revision>1</cp:revision>
  <dc:subject/>
  <dc:title/>
</cp:coreProperties>
</file>