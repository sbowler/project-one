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60" r:id="rId13"/>
    <p:sldId id="273" r:id="rId14"/>
    <p:sldId id="264" r:id="rId15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1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728DDBA-A667-43B9-884B-6CE061A5178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76414E5-9650-4418-998D-24BF0B5576F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35B5-2182-0B38-05DC-0415895F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3C9FF-878D-CE12-9A00-3F75151C1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043" y="1509521"/>
            <a:ext cx="4284266" cy="3597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167D7-83DB-6EB8-B848-0D25C1F32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3316" y="1509521"/>
            <a:ext cx="4284266" cy="3597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E72AC-77FC-946C-1477-E8A25B05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2144D-7780-48FB-8089-4A94ABE7968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27281-2B59-4EAF-EEA2-A78937324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3A5B9-9641-A710-0891-DFFFC427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BCCF-61B3-4AEB-8CCB-FDD87955C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601CC7C-ABAE-49F7-A8C4-BB0D2AE355C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Calculating Trade in Value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By: Stacy Bowler &amp;</a:t>
            </a:r>
          </a:p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Derrik Miller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Business Problem</a:t>
            </a: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dirty="0"/>
              <a:t>A dealership must consistently evaluate customer trade-ins</a:t>
            </a:r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It needs to know what price range could be offered as a trade in based on many factors like model, odometer, condition, age of vehicle.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Executive Summary</a:t>
            </a: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dirty="0"/>
              <a:t>The most valuable vehicles for trade-in are nearly all trucks.</a:t>
            </a: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Model and age are </a:t>
            </a:r>
            <a:r>
              <a:rPr lang="en-US" sz="3200" dirty="0"/>
              <a:t>two most important factors in determining trade-in value.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18E7-81CE-2578-811C-4009B8CB2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8FF21-E9A6-BAA7-68A5-6E0CC68D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E699B-090E-2C59-BA6F-EC1185BA4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043" y="1509521"/>
            <a:ext cx="8395834" cy="3597912"/>
          </a:xfrm>
        </p:spPr>
        <p:txBody>
          <a:bodyPr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Nearly all used car sales data from 2015</a:t>
            </a: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Vehicle years range from 1996 to 2015</a:t>
            </a: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Contains sales data from 34 different states in the US</a:t>
            </a: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Main data points were vehicle age, odometer, condition, model</a:t>
            </a: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Cleaned data contained over 470,000 transactions</a:t>
            </a: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7CDF7C-31CE-49A7-96E7-5640CC07A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310" y="1222029"/>
            <a:ext cx="3310569" cy="333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90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7FE60-E518-FC45-C2CE-3F915770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>
            <a:extLst>
              <a:ext uri="{FF2B5EF4-FFF2-40B4-BE49-F238E27FC236}">
                <a16:creationId xmlns:a16="http://schemas.microsoft.com/office/drawing/2014/main" id="{151847F1-B534-7474-B750-84E121455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Data Preparation</a:t>
            </a:r>
          </a:p>
        </p:txBody>
      </p:sp>
      <p:sp>
        <p:nvSpPr>
          <p:cNvPr id="18" name="PlaceHolder 2">
            <a:extLst>
              <a:ext uri="{FF2B5EF4-FFF2-40B4-BE49-F238E27FC236}">
                <a16:creationId xmlns:a16="http://schemas.microsoft.com/office/drawing/2014/main" id="{976CED2D-1BBE-EAE8-BB21-A20F4379FA1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algn="l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dirty="0"/>
              <a:t>Normalized make – ford truck, ford </a:t>
            </a:r>
            <a:r>
              <a:rPr lang="en-US" sz="1200" dirty="0" err="1"/>
              <a:t>tk</a:t>
            </a:r>
            <a:r>
              <a:rPr lang="en-US" sz="1200" dirty="0"/>
              <a:t> changed to ford</a:t>
            </a:r>
          </a:p>
          <a:p>
            <a:pPr marL="432000" indent="-324000" algn="l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Normalized body – model specific bodies such as 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cts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coupe and g37 convertible changed to just coupe and convertible</a:t>
            </a:r>
          </a:p>
          <a:p>
            <a:pPr marL="432000" indent="-324000" algn="l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dirty="0"/>
              <a:t>Dropped nulls from many columns</a:t>
            </a:r>
          </a:p>
          <a:p>
            <a:pPr marL="432000" indent="-324000" algn="l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dirty="0"/>
              <a:t>Removed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extra characters and spacing from values</a:t>
            </a:r>
          </a:p>
          <a:p>
            <a:pPr marL="432000" indent="-324000" algn="l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Lowercased many of the values for consistency</a:t>
            </a:r>
          </a:p>
          <a:p>
            <a:pPr marL="432000" indent="-324000" algn="l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Normalized colors to consistent values and converted any values like ‘-’ to ‘unknown’</a:t>
            </a:r>
          </a:p>
          <a:p>
            <a:pPr marL="432000" indent="-324000" algn="l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Pulled the sale year out of the sell date and calculated age of vehicle at time of sale</a:t>
            </a:r>
          </a:p>
          <a:p>
            <a:pPr marL="432000" indent="-324000" algn="l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dirty="0"/>
              <a:t>Dropped redundant features for multicollinearity – make, body</a:t>
            </a:r>
          </a:p>
          <a:p>
            <a:pPr marL="432000" indent="-324000" algn="l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Transmission and color were dropped due to insignificance. </a:t>
            </a:r>
          </a:p>
          <a:p>
            <a:pPr marL="432000" indent="-324000" algn="l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dirty="0"/>
              <a:t>MMR (Manheim Market Report) was dropped since it was essentially an estimate of the value that we are modeling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4115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4A316-4107-DB96-BC5D-50A1FB01B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Price vs Vehicle 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120E31-61AA-AFEE-9873-6271EDCF79C8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01721" y="1424426"/>
            <a:ext cx="3659494" cy="3287713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18798A-2AC4-B45F-8AF6-9DB0F1580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947" y="1378085"/>
            <a:ext cx="5754407" cy="345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94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2E8F5-557B-9DAD-9794-688C37F4A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Price vs Odometer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08C537-04D1-60D5-5FDE-45BF79DEE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30" y="1003999"/>
            <a:ext cx="7638656" cy="458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29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8E8F1-1E21-5630-0A5C-E46B260F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Non-Model Predictors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B4434-7BE9-458B-2342-9FDA7FDA6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820" y="1607563"/>
            <a:ext cx="7620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901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BF4EB-D514-FE89-798A-50AF4FFB7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Other Models &lt; 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E1B0D3-0391-881D-7816-4705B9C6D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57" y="1100975"/>
            <a:ext cx="10080625" cy="448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480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6956-4994-0E58-6059-98C7E9C12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Model Predictors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72709-EB0D-6591-7FA3-050F220B6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27" y="930612"/>
            <a:ext cx="8903579" cy="496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27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1418-DEB5-092B-5E26-EF74ADD07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334C2-181E-EB77-C9BB-80A3EAD858B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008919"/>
            <a:ext cx="9071640" cy="1923604"/>
          </a:xfrm>
        </p:spPr>
        <p:txBody>
          <a:bodyPr/>
          <a:lstStyle/>
          <a:p>
            <a:r>
              <a:rPr lang="en-US" sz="2000" dirty="0"/>
              <a:t>Odometer has minimal or no impact on price</a:t>
            </a:r>
          </a:p>
          <a:p>
            <a:r>
              <a:rPr lang="en-US" sz="2000" dirty="0"/>
              <a:t>Vehicle age has largest impact on price between it, odometer, and condition</a:t>
            </a:r>
          </a:p>
          <a:p>
            <a:r>
              <a:rPr lang="en-US" sz="2000" dirty="0"/>
              <a:t>Models (inherently include make and body) can have largest impact. Possibly due to original higher/lower than average new price</a:t>
            </a:r>
          </a:p>
          <a:p>
            <a:r>
              <a:rPr lang="en-US" sz="2000" dirty="0"/>
              <a:t>Most valuable vehicles are almost all trucks</a:t>
            </a:r>
          </a:p>
        </p:txBody>
      </p:sp>
    </p:spTree>
    <p:extLst>
      <p:ext uri="{BB962C8B-B14F-4D97-AF65-F5344CB8AC3E}">
        <p14:creationId xmlns:p14="http://schemas.microsoft.com/office/powerpoint/2010/main" val="3490596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Questions?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FDA1-8699-6F97-6F6C-D3E0929CA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38983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C321-03CF-B08E-A31A-ECB533EA3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541D5-4A5B-55B8-1379-EB43DF2A13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Year - The manufacturing year of the vehicle.</a:t>
            </a: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Make - The brand or manufacturer of the vehicle.</a:t>
            </a: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Model - The specific model of the vehicle.</a:t>
            </a: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Trim - Additional designation for the vehicle model.</a:t>
            </a: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Body - The body type of the vehicle (e.g., SUV, Sedan).</a:t>
            </a: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Transmission - The type of transmission in the vehicle (e.g., automatic).</a:t>
            </a: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Vin - Vehicle Identification Number, a unique code for each vehicle.</a:t>
            </a: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State - The state where the vehicle is registered.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BF395-DA7A-D826-005F-94865F5B2C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432000" indent="-3240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Condition - Condition of the vehicle, possibly rated on a scale of 1 - 50.</a:t>
            </a:r>
          </a:p>
          <a:p>
            <a:pPr marL="432000" indent="-3240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Odometer - The mileage or distance traveled by the vehicle.</a:t>
            </a:r>
          </a:p>
          <a:p>
            <a:pPr marL="432000" indent="-3240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Color - Exterior color of the vehicle.</a:t>
            </a:r>
          </a:p>
          <a:p>
            <a:pPr marL="432000" indent="-3240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Interior - Interior color of the vehicle.</a:t>
            </a:r>
          </a:p>
          <a:p>
            <a:pPr marL="432000" indent="-3240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Seller - The entity selling the vehicle.</a:t>
            </a:r>
          </a:p>
          <a:p>
            <a:pPr marL="432000" indent="-3240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MMR - Manheim Market Report, possibly indicating the estimated market value of the vehicle.</a:t>
            </a:r>
          </a:p>
          <a:p>
            <a:pPr marL="432000" indent="-3240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dirty="0"/>
              <a:t>Selling Price - The price at which the vehicle was sold.</a:t>
            </a:r>
          </a:p>
          <a:p>
            <a:pPr>
              <a:lnSpc>
                <a:spcPct val="12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99327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1874</TotalTime>
  <Words>492</Words>
  <Application>Microsoft Office PowerPoint</Application>
  <PresentationFormat>Custom</PresentationFormat>
  <Paragraphs>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Symbol</vt:lpstr>
      <vt:lpstr>Times New Roman</vt:lpstr>
      <vt:lpstr>Wingdings</vt:lpstr>
      <vt:lpstr>Office</vt:lpstr>
      <vt:lpstr>Calculating Trade in Value</vt:lpstr>
      <vt:lpstr>Business Problem</vt:lpstr>
      <vt:lpstr>Executive Summary</vt:lpstr>
      <vt:lpstr>Data Summary</vt:lpstr>
      <vt:lpstr>Data Preparation</vt:lpstr>
      <vt:lpstr>Price vs Vehicle Age</vt:lpstr>
      <vt:lpstr>Price vs Odometer</vt:lpstr>
      <vt:lpstr>Non-Model Predictors</vt:lpstr>
      <vt:lpstr>Other Models &lt; 10</vt:lpstr>
      <vt:lpstr>Model Predictors</vt:lpstr>
      <vt:lpstr>Conclusion</vt:lpstr>
      <vt:lpstr>Questions?</vt:lpstr>
      <vt:lpstr>Appendix</vt:lpstr>
      <vt:lpstr>Data Fields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Stacy Bowler</cp:lastModifiedBy>
  <cp:revision>35</cp:revision>
  <dcterms:created xsi:type="dcterms:W3CDTF">2026-06-08T20:57:34Z</dcterms:created>
  <dcterms:modified xsi:type="dcterms:W3CDTF">2026-06-13T02:34:19Z</dcterms:modified>
  <dc:language>en-US</dc:language>
</cp:coreProperties>
</file>